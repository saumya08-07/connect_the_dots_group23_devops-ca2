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two case studies (Netflix and Capital One) and five hands-on tasks applied to Connect-The-Dots, a hackathon app with Nginx/React, Spring Boot, MongoDB, Redis and S3 storage. The four numbers are the headline results, each backed by a screenshot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the 2008 corruption of a single shared relational database stopped DVD shipping for about three days. Everything was tightly coupled in one codebase and deployment, scaling was vertical, every change meant redeploying the whole app, and ownership was unclear. DevOps response: Netflix split the monolith into hundreds of microservices with their own data stores, moved to AWS for elastic horizontal scaling, adopted 'you build it, you run it', automated CI/CD with Spinnaker (canary and blue-green), designed for failure with Hystrix circuit breakers, fallbacks and Eureka, and pioneered Chaos Engineering with Chaos Monkey and the Simian Army including Chaos Kong for region failures. Impact: failures are isolated and found deliberately, each service scales independently, and teams deploy many times a day. Conclusion: the mindset shifted from preventing failure to expecting and surviving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 One faced 6 to 9 month release cycles caused by manual reviews, change-approval boards and security audits at the end, while regulators (PCI-DSS, SOX) demanded strict controls and fintechs moved faster. DevSecOps answered both: shift-left security starts at design and coding; automated SAST, SCA, DAST, image and secrets scanning runs in every pipeline; Cloud Custodian enforces compliance as code; standardised pre-approved pipelines (and the open-sourced Hygieia dashboard) apply the same controls to every release; and infrastructure as code gives auditable environments. Embedding security speeds things up because fixes are cheapest early, there is no end-of-cycle bottleneck, small releases are low risk, pipeline logs are audit evidence, guardrails prevent incidents, and developers own security. Caveat: the 2019 breach shows automation must include configuration monitoring and least privilege. Conclusion: speed and security reinforce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Connect-The-Dots is a hackathon project that integrates five independent services behind one Nginx reverse proxy. Users can save metadata (title, description, file path), upload and download files, and see a health check that verifies MongoDB, Redis and file storage at once. The backend is Spring Boot; MongoDB stores metadata, Redis caches the metadata list, and S3-compatible storage holds file bytes. Originally the storage was MinIO; it is now RustFS because MinIO's images were deleted, with no code change thanks to the S3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was chosen because the code is on GitHub: no server, built-in registry and token. CI runs backend and frontend in parallel; the backend test boots Spring Boot against real MongoDB and Redis. Images are multi-stage and tagged with the commit SHA; the layer cache cut build time from about two minutes to 27 seconds. The deploy job creates a throwaway Kubernetes cluster in the runner, applies the real manifests, waits for every rollout and retries the health check. Pull requests never push or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Ansible was chosen over Puppet because it is agentless. The playbook installs packages and Docker from its official repository, creates a no-login service account and an operator account, writes the app directory with 0750 permissions and the secrets file with 0600, installs a systemd unit so the stack starts on boot, then verifies the health endpoint. The second run changed nothing, which proves idempotency. Files: ansible/site.yml, inventory.ini, group_vars,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are multi-stage, so build tools never ship. The backend Deployment runs three replicas with maxSurge 1 and maxUnavailable 0: Kubernetes adds one new pod, waits until it is ready for 10 seconds, then removes one old pod, so capacity never drops. A watcher pod called the API every second and saw only HTTP 200 while versions switched. A deliberately broken v3 could not pull its image, but the old pods kept serving. kubectl rollout undo restored v2 instantly by reusing the old ReplicaSet; the history shows revisions 1,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gained Spring Boot Actuator and the Micrometer Prometheus registry; Prometheus scrapes it every 15 seconds and the target shows UP. Grafana's dashboard is provisioned from the repo and shows uptime, availability, p50/p95/p99 latency, and 4xx vs 5xx error rate. The 4xx line around 14% is by design: test requests for a missing file. When Redis was stopped, the 5xx rate rose to 7.73% and latency to about 30 seconds, and two alert rules went Pending. Alerts: BackendDown 1 min, HighErrorRate over 5% for 2 min, HighLatencyP95 over 500 ms for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MinIO deleted its public images, breaking the original compose file for everyone; RustFS speaks the same S3 API. Two: the first post-merge run failed its smoke test because health was checked once before storage was ready. Three: the original Java base image has no ARM build. Four: the frontend relied on a host folder that Kubernetes pods can't see. Five: WSL got stuck after the laptop slept; I isolated it layer by layer, and the forced restart left files at zero bytes. Six: Ansible needs setfacl to hand files to an unprivileged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is only as good as its checks: every failure here was caught by a health check, a rollout wait or a metric. The Redis test showed that outages appear as latency, which is why Netflix uses circuit breakers. The obvious next step for this pipeline is the Capital One idea: add SAST, dependency and image scans so security shifts left. Other next steps: Ansible Vault for secrets, Alertmanager routing, and pinning image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640080" y="91440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Connect-The-Dots</a:t>
            </a:r>
            <a:endParaRPr lang="en-US" sz="4800" dirty="0"/>
          </a:p>
        </p:txBody>
      </p:sp>
      <p:sp>
        <p:nvSpPr>
          <p:cNvPr id="3" name="Text 1"/>
          <p:cNvSpPr txBox="1"/>
          <p:nvPr/>
        </p:nvSpPr>
        <p:spPr>
          <a:xfrm>
            <a:off x="640080" y="1874520"/>
            <a:ext cx="10515600" cy="548640"/>
          </a:xfrm>
          <a:prstGeom prst="rect">
            <a:avLst/>
          </a:prstGeom>
          <a:noFill/>
          <a:ln/>
        </p:spPr>
        <p:txBody>
          <a:bodyPr wrap="square" lIns="0" tIns="0" rIns="0" bIns="0" rtlCol="0" anchor="ctr"/>
          <a:lstStyle/>
          <a:p>
            <a:pPr indent="0" marL="0">
              <a:buNone/>
            </a:pPr>
            <a:r>
              <a:rPr lang="en-US" sz="2000" dirty="0">
                <a:solidFill>
                  <a:srgbClr val="C9D1D9"/>
                </a:solidFill>
                <a:latin typeface="Calibri" pitchFamily="34" charset="0"/>
                <a:ea typeface="Calibri" pitchFamily="34" charset="-122"/>
                <a:cs typeface="Calibri" pitchFamily="34" charset="-120"/>
              </a:rPr>
              <a:t>DevOps CA-II: case studies and a full DevOps toolchain for a five-service hackathon app</a:t>
            </a:r>
            <a:endParaRPr lang="en-US" sz="2000" dirty="0"/>
          </a:p>
        </p:txBody>
      </p:sp>
      <p:sp>
        <p:nvSpPr>
          <p:cNvPr id="4" name="Text 2"/>
          <p:cNvSpPr txBox="1"/>
          <p:nvPr/>
        </p:nvSpPr>
        <p:spPr>
          <a:xfrm>
            <a:off x="640080" y="2468880"/>
            <a:ext cx="10972800" cy="411480"/>
          </a:xfrm>
          <a:prstGeom prst="rect">
            <a:avLst/>
          </a:prstGeom>
          <a:noFill/>
          <a:ln/>
        </p:spPr>
        <p:txBody>
          <a:bodyPr wrap="square" lIns="0" tIns="0" rIns="0" bIns="0" rtlCol="0" anchor="ctr"/>
          <a:lstStyle/>
          <a:p>
            <a:pPr indent="0" marL="0">
              <a:buNone/>
            </a:pPr>
            <a:r>
              <a:rPr lang="en-US" sz="1500" i="1" dirty="0">
                <a:solidFill>
                  <a:srgbClr val="2DA44E"/>
                </a:solidFill>
                <a:latin typeface="Calibri" pitchFamily="34" charset="0"/>
                <a:ea typeface="Calibri" pitchFamily="34" charset="-122"/>
                <a:cs typeface="Calibri" pitchFamily="34" charset="-120"/>
              </a:rPr>
              <a:t>Case studies: Netflix · Capital One      Tools: GitHub Actions · Ansible · Docker + Kubernetes · Prometheus + Grafana</a:t>
            </a:r>
            <a:endParaRPr lang="en-US" sz="1500" dirty="0"/>
          </a:p>
        </p:txBody>
      </p:sp>
      <p:sp>
        <p:nvSpPr>
          <p:cNvPr id="5" name="Shape 3"/>
          <p:cNvSpPr/>
          <p:nvPr/>
        </p:nvSpPr>
        <p:spPr>
          <a:xfrm>
            <a:off x="640080" y="3520440"/>
            <a:ext cx="2606040" cy="1828800"/>
          </a:xfrm>
          <a:prstGeom prst="rect">
            <a:avLst/>
          </a:prstGeom>
          <a:solidFill>
            <a:srgbClr val="21262D"/>
          </a:solidFill>
          <a:ln w="12700">
            <a:solidFill>
              <a:srgbClr val="21262D"/>
            </a:solidFill>
            <a:prstDash val="solid"/>
          </a:ln>
        </p:spPr>
      </p:sp>
      <p:sp>
        <p:nvSpPr>
          <p:cNvPr id="6" name="Text 4"/>
          <p:cNvSpPr txBox="1"/>
          <p:nvPr/>
        </p:nvSpPr>
        <p:spPr>
          <a:xfrm>
            <a:off x="868680" y="3703320"/>
            <a:ext cx="2148840" cy="777240"/>
          </a:xfrm>
          <a:prstGeom prst="rect">
            <a:avLst/>
          </a:prstGeom>
          <a:noFill/>
          <a:ln/>
        </p:spPr>
        <p:txBody>
          <a:bodyPr wrap="square" lIns="0" tIns="0" rIns="0" bIns="0" rtlCol="0" anchor="ctr"/>
          <a:lstStyle/>
          <a:p>
            <a:pPr indent="0" marL="0">
              <a:buNone/>
            </a:pPr>
            <a:r>
              <a:rPr lang="en-US" sz="4000" b="1" dirty="0">
                <a:solidFill>
                  <a:srgbClr val="2DA44E"/>
                </a:solidFill>
                <a:latin typeface="Arial" pitchFamily="34" charset="0"/>
                <a:ea typeface="Arial" pitchFamily="34" charset="-122"/>
                <a:cs typeface="Arial" pitchFamily="34" charset="-120"/>
              </a:rPr>
              <a:t>4 / 4</a:t>
            </a:r>
            <a:endParaRPr lang="en-US" sz="4000" dirty="0"/>
          </a:p>
        </p:txBody>
      </p:sp>
      <p:sp>
        <p:nvSpPr>
          <p:cNvPr id="7" name="Text 5"/>
          <p:cNvSpPr txBox="1"/>
          <p:nvPr/>
        </p:nvSpPr>
        <p:spPr>
          <a:xfrm>
            <a:off x="868680" y="4526280"/>
            <a:ext cx="2148840" cy="685800"/>
          </a:xfrm>
          <a:prstGeom prst="rect">
            <a:avLst/>
          </a:prstGeom>
          <a:noFill/>
          <a:ln/>
        </p:spPr>
        <p:txBody>
          <a:bodyPr wrap="square" lIns="0" tIns="0" rIns="0" bIns="0" rtlCol="0" anchor="t"/>
          <a:lstStyle/>
          <a:p>
            <a:pPr indent="0" marL="0">
              <a:buNone/>
            </a:pPr>
            <a:r>
              <a:rPr lang="en-US" sz="1300" dirty="0">
                <a:solidFill>
                  <a:srgbClr val="C9D1D9"/>
                </a:solidFill>
                <a:latin typeface="Calibri" pitchFamily="34" charset="0"/>
                <a:ea typeface="Calibri" pitchFamily="34" charset="-122"/>
                <a:cs typeface="Calibri" pitchFamily="34" charset="-120"/>
              </a:rPr>
              <a:t>pipeline jobs green</a:t>
            </a:r>
            <a:endParaRPr lang="en-US" sz="1300" dirty="0"/>
          </a:p>
          <a:p>
            <a:pPr indent="0" marL="0">
              <a:buNone/>
            </a:pPr>
            <a:r>
              <a:rPr lang="en-US" sz="1300" dirty="0">
                <a:solidFill>
                  <a:srgbClr val="C9D1D9"/>
                </a:solidFill>
                <a:latin typeface="Calibri" pitchFamily="34" charset="0"/>
                <a:ea typeface="Calibri" pitchFamily="34" charset="-122"/>
                <a:cs typeface="Calibri" pitchFamily="34" charset="-120"/>
              </a:rPr>
              <a:t>(run #5, 4 min 8 s)</a:t>
            </a:r>
            <a:endParaRPr lang="en-US" sz="1300" dirty="0"/>
          </a:p>
        </p:txBody>
      </p:sp>
      <p:sp>
        <p:nvSpPr>
          <p:cNvPr id="8" name="Shape 6"/>
          <p:cNvSpPr/>
          <p:nvPr/>
        </p:nvSpPr>
        <p:spPr>
          <a:xfrm>
            <a:off x="3429000" y="3520440"/>
            <a:ext cx="2606040" cy="1828800"/>
          </a:xfrm>
          <a:prstGeom prst="rect">
            <a:avLst/>
          </a:prstGeom>
          <a:solidFill>
            <a:srgbClr val="21262D"/>
          </a:solidFill>
          <a:ln w="12700">
            <a:solidFill>
              <a:srgbClr val="21262D"/>
            </a:solidFill>
            <a:prstDash val="solid"/>
          </a:ln>
        </p:spPr>
      </p:sp>
      <p:sp>
        <p:nvSpPr>
          <p:cNvPr id="9" name="Text 7"/>
          <p:cNvSpPr txBox="1"/>
          <p:nvPr/>
        </p:nvSpPr>
        <p:spPr>
          <a:xfrm>
            <a:off x="3657600" y="3703320"/>
            <a:ext cx="2148840" cy="777240"/>
          </a:xfrm>
          <a:prstGeom prst="rect">
            <a:avLst/>
          </a:prstGeom>
          <a:noFill/>
          <a:ln/>
        </p:spPr>
        <p:txBody>
          <a:bodyPr wrap="square" lIns="0" tIns="0" rIns="0" bIns="0" rtlCol="0" anchor="ctr"/>
          <a:lstStyle/>
          <a:p>
            <a:pPr indent="0" marL="0">
              <a:buNone/>
            </a:pPr>
            <a:r>
              <a:rPr lang="en-US" sz="4000" b="1" dirty="0">
                <a:solidFill>
                  <a:srgbClr val="2DA44E"/>
                </a:solidFill>
                <a:latin typeface="Arial" pitchFamily="34" charset="0"/>
                <a:ea typeface="Arial" pitchFamily="34" charset="-122"/>
                <a:cs typeface="Arial" pitchFamily="34" charset="-120"/>
              </a:rPr>
              <a:t>0</a:t>
            </a:r>
            <a:endParaRPr lang="en-US" sz="4000" dirty="0"/>
          </a:p>
        </p:txBody>
      </p:sp>
      <p:sp>
        <p:nvSpPr>
          <p:cNvPr id="10" name="Text 8"/>
          <p:cNvSpPr txBox="1"/>
          <p:nvPr/>
        </p:nvSpPr>
        <p:spPr>
          <a:xfrm>
            <a:off x="3657600" y="4526280"/>
            <a:ext cx="2148840" cy="685800"/>
          </a:xfrm>
          <a:prstGeom prst="rect">
            <a:avLst/>
          </a:prstGeom>
          <a:noFill/>
          <a:ln/>
        </p:spPr>
        <p:txBody>
          <a:bodyPr wrap="square" lIns="0" tIns="0" rIns="0" bIns="0" rtlCol="0" anchor="t"/>
          <a:lstStyle/>
          <a:p>
            <a:pPr indent="0" marL="0">
              <a:buNone/>
            </a:pPr>
            <a:r>
              <a:rPr lang="en-US" sz="1300" dirty="0">
                <a:solidFill>
                  <a:srgbClr val="C9D1D9"/>
                </a:solidFill>
                <a:latin typeface="Calibri" pitchFamily="34" charset="0"/>
                <a:ea typeface="Calibri" pitchFamily="34" charset="-122"/>
                <a:cs typeface="Calibri" pitchFamily="34" charset="-120"/>
              </a:rPr>
              <a:t>failed requests during the</a:t>
            </a:r>
            <a:endParaRPr lang="en-US" sz="1300" dirty="0"/>
          </a:p>
          <a:p>
            <a:pPr indent="0" marL="0">
              <a:buNone/>
            </a:pPr>
            <a:r>
              <a:rPr lang="en-US" sz="1300" dirty="0">
                <a:solidFill>
                  <a:srgbClr val="C9D1D9"/>
                </a:solidFill>
                <a:latin typeface="Calibri" pitchFamily="34" charset="0"/>
                <a:ea typeface="Calibri" pitchFamily="34" charset="-122"/>
                <a:cs typeface="Calibri" pitchFamily="34" charset="-120"/>
              </a:rPr>
              <a:t>v1 → v2 rolling update</a:t>
            </a:r>
            <a:endParaRPr lang="en-US" sz="1300" dirty="0"/>
          </a:p>
        </p:txBody>
      </p:sp>
      <p:sp>
        <p:nvSpPr>
          <p:cNvPr id="11" name="Shape 9"/>
          <p:cNvSpPr/>
          <p:nvPr/>
        </p:nvSpPr>
        <p:spPr>
          <a:xfrm>
            <a:off x="6217920" y="3520440"/>
            <a:ext cx="2606040" cy="1828800"/>
          </a:xfrm>
          <a:prstGeom prst="rect">
            <a:avLst/>
          </a:prstGeom>
          <a:solidFill>
            <a:srgbClr val="21262D"/>
          </a:solidFill>
          <a:ln w="12700">
            <a:solidFill>
              <a:srgbClr val="21262D"/>
            </a:solidFill>
            <a:prstDash val="solid"/>
          </a:ln>
        </p:spPr>
      </p:sp>
      <p:sp>
        <p:nvSpPr>
          <p:cNvPr id="12" name="Text 10"/>
          <p:cNvSpPr txBox="1"/>
          <p:nvPr/>
        </p:nvSpPr>
        <p:spPr>
          <a:xfrm>
            <a:off x="6446520" y="3703320"/>
            <a:ext cx="2148840" cy="777240"/>
          </a:xfrm>
          <a:prstGeom prst="rect">
            <a:avLst/>
          </a:prstGeom>
          <a:noFill/>
          <a:ln/>
        </p:spPr>
        <p:txBody>
          <a:bodyPr wrap="square" lIns="0" tIns="0" rIns="0" bIns="0" rtlCol="0" anchor="ctr"/>
          <a:lstStyle/>
          <a:p>
            <a:pPr indent="0" marL="0">
              <a:buNone/>
            </a:pPr>
            <a:r>
              <a:rPr lang="en-US" sz="3000" b="1" dirty="0">
                <a:solidFill>
                  <a:srgbClr val="2DA44E"/>
                </a:solidFill>
                <a:latin typeface="Arial" pitchFamily="34" charset="0"/>
                <a:ea typeface="Arial" pitchFamily="34" charset="-122"/>
                <a:cs typeface="Arial" pitchFamily="34" charset="-120"/>
              </a:rPr>
              <a:t>changed=0</a:t>
            </a:r>
            <a:endParaRPr lang="en-US" sz="3000" dirty="0"/>
          </a:p>
        </p:txBody>
      </p:sp>
      <p:sp>
        <p:nvSpPr>
          <p:cNvPr id="13" name="Text 11"/>
          <p:cNvSpPr txBox="1"/>
          <p:nvPr/>
        </p:nvSpPr>
        <p:spPr>
          <a:xfrm>
            <a:off x="6446520" y="4526280"/>
            <a:ext cx="2148840" cy="685800"/>
          </a:xfrm>
          <a:prstGeom prst="rect">
            <a:avLst/>
          </a:prstGeom>
          <a:noFill/>
          <a:ln/>
        </p:spPr>
        <p:txBody>
          <a:bodyPr wrap="square" lIns="0" tIns="0" rIns="0" bIns="0" rtlCol="0" anchor="t"/>
          <a:lstStyle/>
          <a:p>
            <a:pPr indent="0" marL="0">
              <a:buNone/>
            </a:pPr>
            <a:r>
              <a:rPr lang="en-US" sz="1300" dirty="0">
                <a:solidFill>
                  <a:srgbClr val="C9D1D9"/>
                </a:solidFill>
                <a:latin typeface="Calibri" pitchFamily="34" charset="0"/>
                <a:ea typeface="Calibri" pitchFamily="34" charset="-122"/>
                <a:cs typeface="Calibri" pitchFamily="34" charset="-120"/>
              </a:rPr>
              <a:t>on the second Ansible run</a:t>
            </a:r>
            <a:endParaRPr lang="en-US" sz="1300" dirty="0"/>
          </a:p>
          <a:p>
            <a:pPr indent="0" marL="0">
              <a:buNone/>
            </a:pPr>
            <a:r>
              <a:rPr lang="en-US" sz="1300" dirty="0">
                <a:solidFill>
                  <a:srgbClr val="C9D1D9"/>
                </a:solidFill>
                <a:latin typeface="Calibri" pitchFamily="34" charset="0"/>
                <a:ea typeface="Calibri" pitchFamily="34" charset="-122"/>
                <a:cs typeface="Calibri" pitchFamily="34" charset="-120"/>
              </a:rPr>
              <a:t>(idempotent playbook)</a:t>
            </a:r>
            <a:endParaRPr lang="en-US" sz="1300" dirty="0"/>
          </a:p>
        </p:txBody>
      </p:sp>
      <p:sp>
        <p:nvSpPr>
          <p:cNvPr id="14" name="Shape 12"/>
          <p:cNvSpPr/>
          <p:nvPr/>
        </p:nvSpPr>
        <p:spPr>
          <a:xfrm>
            <a:off x="9006840" y="3520440"/>
            <a:ext cx="2606040" cy="1828800"/>
          </a:xfrm>
          <a:prstGeom prst="rect">
            <a:avLst/>
          </a:prstGeom>
          <a:solidFill>
            <a:srgbClr val="21262D"/>
          </a:solidFill>
          <a:ln w="12700">
            <a:solidFill>
              <a:srgbClr val="21262D"/>
            </a:solidFill>
            <a:prstDash val="solid"/>
          </a:ln>
        </p:spPr>
      </p:sp>
      <p:sp>
        <p:nvSpPr>
          <p:cNvPr id="15" name="Text 13"/>
          <p:cNvSpPr txBox="1"/>
          <p:nvPr/>
        </p:nvSpPr>
        <p:spPr>
          <a:xfrm>
            <a:off x="9235440" y="3703320"/>
            <a:ext cx="2148840" cy="777240"/>
          </a:xfrm>
          <a:prstGeom prst="rect">
            <a:avLst/>
          </a:prstGeom>
          <a:noFill/>
          <a:ln/>
        </p:spPr>
        <p:txBody>
          <a:bodyPr wrap="square" lIns="0" tIns="0" rIns="0" bIns="0" rtlCol="0" anchor="ctr"/>
          <a:lstStyle/>
          <a:p>
            <a:pPr indent="0" marL="0">
              <a:buNone/>
            </a:pPr>
            <a:r>
              <a:rPr lang="en-US" sz="4000" b="1" dirty="0">
                <a:solidFill>
                  <a:srgbClr val="2DA44E"/>
                </a:solidFill>
                <a:latin typeface="Arial" pitchFamily="34" charset="0"/>
                <a:ea typeface="Arial" pitchFamily="34" charset="-122"/>
                <a:cs typeface="Arial" pitchFamily="34" charset="-120"/>
              </a:rPr>
              <a:t>7.73%</a:t>
            </a:r>
            <a:endParaRPr lang="en-US" sz="4000" dirty="0"/>
          </a:p>
        </p:txBody>
      </p:sp>
      <p:sp>
        <p:nvSpPr>
          <p:cNvPr id="16" name="Text 14"/>
          <p:cNvSpPr txBox="1"/>
          <p:nvPr/>
        </p:nvSpPr>
        <p:spPr>
          <a:xfrm>
            <a:off x="9235440" y="4526280"/>
            <a:ext cx="2148840" cy="685800"/>
          </a:xfrm>
          <a:prstGeom prst="rect">
            <a:avLst/>
          </a:prstGeom>
          <a:noFill/>
          <a:ln/>
        </p:spPr>
        <p:txBody>
          <a:bodyPr wrap="square" lIns="0" tIns="0" rIns="0" bIns="0" rtlCol="0" anchor="t"/>
          <a:lstStyle/>
          <a:p>
            <a:pPr indent="0" marL="0">
              <a:buNone/>
            </a:pPr>
            <a:r>
              <a:rPr lang="en-US" sz="1300" dirty="0">
                <a:solidFill>
                  <a:srgbClr val="C9D1D9"/>
                </a:solidFill>
                <a:latin typeface="Calibri" pitchFamily="34" charset="0"/>
                <a:ea typeface="Calibri" pitchFamily="34" charset="-122"/>
                <a:cs typeface="Calibri" pitchFamily="34" charset="-120"/>
              </a:rPr>
              <a:t>5xx spike caught by Grafana</a:t>
            </a:r>
            <a:endParaRPr lang="en-US" sz="1300" dirty="0"/>
          </a:p>
          <a:p>
            <a:pPr indent="0" marL="0">
              <a:buNone/>
            </a:pPr>
            <a:r>
              <a:rPr lang="en-US" sz="1300" dirty="0">
                <a:solidFill>
                  <a:srgbClr val="C9D1D9"/>
                </a:solidFill>
                <a:latin typeface="Calibri" pitchFamily="34" charset="0"/>
                <a:ea typeface="Calibri" pitchFamily="34" charset="-122"/>
                <a:cs typeface="Calibri" pitchFamily="34" charset="-120"/>
              </a:rPr>
              <a:t>when Redis was stopped</a:t>
            </a:r>
            <a:endParaRPr lang="en-US" sz="1300" dirty="0"/>
          </a:p>
        </p:txBody>
      </p:sp>
      <p:sp>
        <p:nvSpPr>
          <p:cNvPr id="17" name="Text 15"/>
          <p:cNvSpPr txBox="1"/>
          <p:nvPr/>
        </p:nvSpPr>
        <p:spPr>
          <a:xfrm>
            <a:off x="640080" y="5943600"/>
            <a:ext cx="10058400" cy="365760"/>
          </a:xfrm>
          <a:prstGeom prst="rect">
            <a:avLst/>
          </a:prstGeom>
          <a:noFill/>
          <a:ln/>
        </p:spPr>
        <p:txBody>
          <a:bodyPr wrap="square" lIns="0" tIns="0" rIns="0" bIns="0" rtlCol="0" anchor="ctr"/>
          <a:lstStyle/>
          <a:p>
            <a:pPr indent="0" marL="0">
              <a:buNone/>
            </a:pPr>
            <a:r>
              <a:rPr lang="en-US" sz="1300" dirty="0">
                <a:solidFill>
                  <a:srgbClr val="C9D1D9"/>
                </a:solidFill>
                <a:latin typeface="Calibri" pitchFamily="34" charset="0"/>
                <a:ea typeface="Calibri" pitchFamily="34" charset="-122"/>
                <a:cs typeface="Calibri" pitchFamily="34" charset="-120"/>
              </a:rPr>
              <a:t>github.com/saumya08-07/Connect-The-Dots   ·   1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rgbClr val="2DA44E"/>
                </a:solidFill>
                <a:latin typeface="Calibri" pitchFamily="34" charset="0"/>
                <a:ea typeface="Calibri" pitchFamily="34" charset="-122"/>
                <a:cs typeface="Calibri" pitchFamily="34" charset="-120"/>
              </a:rPr>
              <a:t>CASE STUDY Q1</a:t>
            </a:r>
            <a:endParaRPr lang="en-US" sz="1200" dirty="0"/>
          </a:p>
        </p:txBody>
      </p:sp>
      <p:sp>
        <p:nvSpPr>
          <p:cNvPr id="3" name="Text 1"/>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1F2328"/>
                </a:solidFill>
                <a:latin typeface="Arial" pitchFamily="34" charset="0"/>
                <a:ea typeface="Arial" pitchFamily="34" charset="-122"/>
                <a:cs typeface="Arial" pitchFamily="34" charset="-120"/>
              </a:rPr>
              <a:t>Netflix: from a fragile monolith to designed-for-failure</a:t>
            </a:r>
            <a:endParaRPr lang="en-US" sz="3000" dirty="0"/>
          </a:p>
        </p:txBody>
      </p:sp>
      <p:sp>
        <p:nvSpPr>
          <p:cNvPr id="4" name="Shape 2"/>
          <p:cNvSpPr/>
          <p:nvPr/>
        </p:nvSpPr>
        <p:spPr>
          <a:xfrm>
            <a:off x="548640" y="1371600"/>
            <a:ext cx="5120640" cy="3977640"/>
          </a:xfrm>
          <a:prstGeom prst="rect">
            <a:avLst/>
          </a:prstGeom>
          <a:solidFill>
            <a:srgbClr val="FFF4D6"/>
          </a:solidFill>
          <a:ln w="9525">
            <a:solidFill>
              <a:srgbClr val="FFF4D6"/>
            </a:solidFill>
            <a:prstDash val="solid"/>
          </a:ln>
        </p:spPr>
      </p:sp>
      <p:sp>
        <p:nvSpPr>
          <p:cNvPr id="5" name="Text 3"/>
          <p:cNvSpPr txBox="1"/>
          <p:nvPr/>
        </p:nvSpPr>
        <p:spPr>
          <a:xfrm>
            <a:off x="777240" y="1508760"/>
            <a:ext cx="4754880" cy="36576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What the 2008 database corruption exposed</a:t>
            </a:r>
            <a:endParaRPr lang="en-US" sz="1500" dirty="0"/>
          </a:p>
        </p:txBody>
      </p:sp>
      <p:sp>
        <p:nvSpPr>
          <p:cNvPr id="6" name="Shape 4"/>
          <p:cNvSpPr/>
          <p:nvPr/>
        </p:nvSpPr>
        <p:spPr>
          <a:xfrm>
            <a:off x="777240" y="2020824"/>
            <a:ext cx="384048" cy="384048"/>
          </a:xfrm>
          <a:prstGeom prst="ellipse">
            <a:avLst/>
          </a:prstGeom>
          <a:solidFill>
            <a:srgbClr val="BF8700"/>
          </a:solidFill>
          <a:ln w="12700">
            <a:solidFill>
              <a:srgbClr val="BF8700"/>
            </a:solidFill>
            <a:prstDash val="solid"/>
          </a:ln>
        </p:spPr>
      </p:sp>
      <p:sp>
        <p:nvSpPr>
          <p:cNvPr id="7" name="Text 5"/>
          <p:cNvSpPr txBox="1"/>
          <p:nvPr/>
        </p:nvSpPr>
        <p:spPr>
          <a:xfrm>
            <a:off x="777240"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307592" y="2011680"/>
            <a:ext cx="422452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Single point of failure</a:t>
            </a:r>
            <a:endParaRPr lang="en-US" sz="1300" dirty="0"/>
          </a:p>
        </p:txBody>
      </p:sp>
      <p:sp>
        <p:nvSpPr>
          <p:cNvPr id="9" name="Text 7"/>
          <p:cNvSpPr txBox="1"/>
          <p:nvPr/>
        </p:nvSpPr>
        <p:spPr>
          <a:xfrm>
            <a:off x="1307592" y="2350008"/>
            <a:ext cx="4224528" cy="292608"/>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One shared database; DVD shipping stopped for ~3 days.</a:t>
            </a:r>
            <a:endParaRPr lang="en-US" sz="1150" dirty="0"/>
          </a:p>
        </p:txBody>
      </p:sp>
      <p:sp>
        <p:nvSpPr>
          <p:cNvPr id="10" name="Shape 8"/>
          <p:cNvSpPr/>
          <p:nvPr/>
        </p:nvSpPr>
        <p:spPr>
          <a:xfrm>
            <a:off x="777240" y="2679192"/>
            <a:ext cx="384048" cy="384048"/>
          </a:xfrm>
          <a:prstGeom prst="ellipse">
            <a:avLst/>
          </a:prstGeom>
          <a:solidFill>
            <a:srgbClr val="BF8700"/>
          </a:solidFill>
          <a:ln w="12700">
            <a:solidFill>
              <a:srgbClr val="BF8700"/>
            </a:solidFill>
            <a:prstDash val="solid"/>
          </a:ln>
        </p:spPr>
      </p:sp>
      <p:sp>
        <p:nvSpPr>
          <p:cNvPr id="11" name="Text 9"/>
          <p:cNvSpPr txBox="1"/>
          <p:nvPr/>
        </p:nvSpPr>
        <p:spPr>
          <a:xfrm>
            <a:off x="777240" y="2679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1307592" y="2670048"/>
            <a:ext cx="422452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Tight coupling</a:t>
            </a:r>
            <a:endParaRPr lang="en-US" sz="1300" dirty="0"/>
          </a:p>
        </p:txBody>
      </p:sp>
      <p:sp>
        <p:nvSpPr>
          <p:cNvPr id="13" name="Text 11"/>
          <p:cNvSpPr txBox="1"/>
          <p:nvPr/>
        </p:nvSpPr>
        <p:spPr>
          <a:xfrm>
            <a:off x="1307592" y="3008376"/>
            <a:ext cx="4224528" cy="292608"/>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Billing, catalogue, recommendations, shipping in one deployable.</a:t>
            </a:r>
            <a:endParaRPr lang="en-US" sz="1150" dirty="0"/>
          </a:p>
        </p:txBody>
      </p:sp>
      <p:sp>
        <p:nvSpPr>
          <p:cNvPr id="14" name="Shape 12"/>
          <p:cNvSpPr/>
          <p:nvPr/>
        </p:nvSpPr>
        <p:spPr>
          <a:xfrm>
            <a:off x="777240" y="3337560"/>
            <a:ext cx="384048" cy="384048"/>
          </a:xfrm>
          <a:prstGeom prst="ellipse">
            <a:avLst/>
          </a:prstGeom>
          <a:solidFill>
            <a:srgbClr val="BF8700"/>
          </a:solidFill>
          <a:ln w="12700">
            <a:solidFill>
              <a:srgbClr val="BF8700"/>
            </a:solidFill>
            <a:prstDash val="solid"/>
          </a:ln>
        </p:spPr>
      </p:sp>
      <p:sp>
        <p:nvSpPr>
          <p:cNvPr id="15" name="Text 13"/>
          <p:cNvSpPr txBox="1"/>
          <p:nvPr/>
        </p:nvSpPr>
        <p:spPr>
          <a:xfrm>
            <a:off x="77724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1307592" y="3328416"/>
            <a:ext cx="422452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Vertical scaling limits</a:t>
            </a:r>
            <a:endParaRPr lang="en-US" sz="1300" dirty="0"/>
          </a:p>
        </p:txBody>
      </p:sp>
      <p:sp>
        <p:nvSpPr>
          <p:cNvPr id="17" name="Text 15"/>
          <p:cNvSpPr txBox="1"/>
          <p:nvPr/>
        </p:nvSpPr>
        <p:spPr>
          <a:xfrm>
            <a:off x="1307592" y="3666744"/>
            <a:ext cx="4224528" cy="292608"/>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Growth meant bigger hardware, not more instances.</a:t>
            </a:r>
            <a:endParaRPr lang="en-US" sz="1150" dirty="0"/>
          </a:p>
        </p:txBody>
      </p:sp>
      <p:sp>
        <p:nvSpPr>
          <p:cNvPr id="18" name="Shape 16"/>
          <p:cNvSpPr/>
          <p:nvPr/>
        </p:nvSpPr>
        <p:spPr>
          <a:xfrm>
            <a:off x="777240" y="3995928"/>
            <a:ext cx="384048" cy="384048"/>
          </a:xfrm>
          <a:prstGeom prst="ellipse">
            <a:avLst/>
          </a:prstGeom>
          <a:solidFill>
            <a:srgbClr val="BF8700"/>
          </a:solidFill>
          <a:ln w="12700">
            <a:solidFill>
              <a:srgbClr val="BF8700"/>
            </a:solidFill>
            <a:prstDash val="solid"/>
          </a:ln>
        </p:spPr>
      </p:sp>
      <p:sp>
        <p:nvSpPr>
          <p:cNvPr id="19" name="Text 17"/>
          <p:cNvSpPr txBox="1"/>
          <p:nvPr/>
        </p:nvSpPr>
        <p:spPr>
          <a:xfrm>
            <a:off x="777240" y="3995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0" name="Text 18"/>
          <p:cNvSpPr txBox="1"/>
          <p:nvPr/>
        </p:nvSpPr>
        <p:spPr>
          <a:xfrm>
            <a:off x="1307592" y="3986784"/>
            <a:ext cx="422452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Slow, risky releases</a:t>
            </a:r>
            <a:endParaRPr lang="en-US" sz="1300" dirty="0"/>
          </a:p>
        </p:txBody>
      </p:sp>
      <p:sp>
        <p:nvSpPr>
          <p:cNvPr id="21" name="Text 19"/>
          <p:cNvSpPr txBox="1"/>
          <p:nvPr/>
        </p:nvSpPr>
        <p:spPr>
          <a:xfrm>
            <a:off x="1307592" y="4325112"/>
            <a:ext cx="4224528" cy="292608"/>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Any fix meant redeploying the whole application.</a:t>
            </a:r>
            <a:endParaRPr lang="en-US" sz="1150" dirty="0"/>
          </a:p>
        </p:txBody>
      </p:sp>
      <p:sp>
        <p:nvSpPr>
          <p:cNvPr id="22" name="Shape 20"/>
          <p:cNvSpPr/>
          <p:nvPr/>
        </p:nvSpPr>
        <p:spPr>
          <a:xfrm>
            <a:off x="777240" y="4654296"/>
            <a:ext cx="384048" cy="384048"/>
          </a:xfrm>
          <a:prstGeom prst="ellipse">
            <a:avLst/>
          </a:prstGeom>
          <a:solidFill>
            <a:srgbClr val="BF8700"/>
          </a:solidFill>
          <a:ln w="12700">
            <a:solidFill>
              <a:srgbClr val="BF8700"/>
            </a:solidFill>
            <a:prstDash val="solid"/>
          </a:ln>
        </p:spPr>
      </p:sp>
      <p:sp>
        <p:nvSpPr>
          <p:cNvPr id="23" name="Text 21"/>
          <p:cNvSpPr txBox="1"/>
          <p:nvPr/>
        </p:nvSpPr>
        <p:spPr>
          <a:xfrm>
            <a:off x="7772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4" name="Text 22"/>
          <p:cNvSpPr txBox="1"/>
          <p:nvPr/>
        </p:nvSpPr>
        <p:spPr>
          <a:xfrm>
            <a:off x="1307592" y="4645152"/>
            <a:ext cx="422452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Ownership gaps</a:t>
            </a:r>
            <a:endParaRPr lang="en-US" sz="1300" dirty="0"/>
          </a:p>
        </p:txBody>
      </p:sp>
      <p:sp>
        <p:nvSpPr>
          <p:cNvPr id="25" name="Text 23"/>
          <p:cNvSpPr txBox="1"/>
          <p:nvPr/>
        </p:nvSpPr>
        <p:spPr>
          <a:xfrm>
            <a:off x="1307592" y="4983480"/>
            <a:ext cx="4224528" cy="292608"/>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One shared codebase; no team owned a capability end to end.</a:t>
            </a:r>
            <a:endParaRPr lang="en-US" sz="1150" dirty="0"/>
          </a:p>
        </p:txBody>
      </p:sp>
      <p:sp>
        <p:nvSpPr>
          <p:cNvPr id="26" name="Text 24"/>
          <p:cNvSpPr txBox="1"/>
          <p:nvPr/>
        </p:nvSpPr>
        <p:spPr>
          <a:xfrm>
            <a:off x="6035040" y="1417320"/>
            <a:ext cx="5577840" cy="36576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How DevOps solved it</a:t>
            </a:r>
            <a:endParaRPr lang="en-US" sz="1500" dirty="0"/>
          </a:p>
        </p:txBody>
      </p:sp>
      <p:sp>
        <p:nvSpPr>
          <p:cNvPr id="27" name="Shape 25"/>
          <p:cNvSpPr/>
          <p:nvPr/>
        </p:nvSpPr>
        <p:spPr>
          <a:xfrm>
            <a:off x="6035040" y="1883664"/>
            <a:ext cx="384048" cy="384048"/>
          </a:xfrm>
          <a:prstGeom prst="ellipse">
            <a:avLst/>
          </a:prstGeom>
          <a:solidFill>
            <a:srgbClr val="2DA44E"/>
          </a:solidFill>
          <a:ln w="12700">
            <a:solidFill>
              <a:srgbClr val="2DA44E"/>
            </a:solidFill>
            <a:prstDash val="solid"/>
          </a:ln>
        </p:spPr>
      </p:sp>
      <p:sp>
        <p:nvSpPr>
          <p:cNvPr id="28" name="Text 26"/>
          <p:cNvSpPr txBox="1"/>
          <p:nvPr/>
        </p:nvSpPr>
        <p:spPr>
          <a:xfrm>
            <a:off x="6035040"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9" name="Text 27"/>
          <p:cNvSpPr txBox="1"/>
          <p:nvPr/>
        </p:nvSpPr>
        <p:spPr>
          <a:xfrm>
            <a:off x="6565392" y="1874520"/>
            <a:ext cx="504748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Microservices</a:t>
            </a:r>
            <a:endParaRPr lang="en-US" sz="1300" dirty="0"/>
          </a:p>
        </p:txBody>
      </p:sp>
      <p:sp>
        <p:nvSpPr>
          <p:cNvPr id="30" name="Text 28"/>
          <p:cNvSpPr txBox="1"/>
          <p:nvPr/>
        </p:nvSpPr>
        <p:spPr>
          <a:xfrm>
            <a:off x="6565392" y="2212848"/>
            <a:ext cx="5047488" cy="256032"/>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Small services with their own data and team; failures stay contained.</a:t>
            </a:r>
            <a:endParaRPr lang="en-US" sz="1150" dirty="0"/>
          </a:p>
        </p:txBody>
      </p:sp>
      <p:sp>
        <p:nvSpPr>
          <p:cNvPr id="31" name="Shape 29"/>
          <p:cNvSpPr/>
          <p:nvPr/>
        </p:nvSpPr>
        <p:spPr>
          <a:xfrm>
            <a:off x="6035040" y="2468880"/>
            <a:ext cx="384048" cy="384048"/>
          </a:xfrm>
          <a:prstGeom prst="ellipse">
            <a:avLst/>
          </a:prstGeom>
          <a:solidFill>
            <a:srgbClr val="2DA44E"/>
          </a:solidFill>
          <a:ln w="12700">
            <a:solidFill>
              <a:srgbClr val="2DA44E"/>
            </a:solidFill>
            <a:prstDash val="solid"/>
          </a:ln>
        </p:spPr>
      </p:sp>
      <p:sp>
        <p:nvSpPr>
          <p:cNvPr id="32" name="Text 30"/>
          <p:cNvSpPr txBox="1"/>
          <p:nvPr/>
        </p:nvSpPr>
        <p:spPr>
          <a:xfrm>
            <a:off x="603504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33" name="Text 31"/>
          <p:cNvSpPr txBox="1"/>
          <p:nvPr/>
        </p:nvSpPr>
        <p:spPr>
          <a:xfrm>
            <a:off x="6565392" y="2459736"/>
            <a:ext cx="504748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Cloud migration (AWS)</a:t>
            </a:r>
            <a:endParaRPr lang="en-US" sz="1300" dirty="0"/>
          </a:p>
        </p:txBody>
      </p:sp>
      <p:sp>
        <p:nvSpPr>
          <p:cNvPr id="34" name="Text 32"/>
          <p:cNvSpPr txBox="1"/>
          <p:nvPr/>
        </p:nvSpPr>
        <p:spPr>
          <a:xfrm>
            <a:off x="6565392" y="2798064"/>
            <a:ext cx="5047488" cy="256032"/>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Elastic, horizontal scaling across regions.</a:t>
            </a:r>
            <a:endParaRPr lang="en-US" sz="1150" dirty="0"/>
          </a:p>
        </p:txBody>
      </p:sp>
      <p:sp>
        <p:nvSpPr>
          <p:cNvPr id="35" name="Shape 33"/>
          <p:cNvSpPr/>
          <p:nvPr/>
        </p:nvSpPr>
        <p:spPr>
          <a:xfrm>
            <a:off x="6035040" y="3054096"/>
            <a:ext cx="384048" cy="384048"/>
          </a:xfrm>
          <a:prstGeom prst="ellipse">
            <a:avLst/>
          </a:prstGeom>
          <a:solidFill>
            <a:srgbClr val="2DA44E"/>
          </a:solidFill>
          <a:ln w="12700">
            <a:solidFill>
              <a:srgbClr val="2DA44E"/>
            </a:solidFill>
            <a:prstDash val="solid"/>
          </a:ln>
        </p:spPr>
      </p:sp>
      <p:sp>
        <p:nvSpPr>
          <p:cNvPr id="36" name="Text 34"/>
          <p:cNvSpPr txBox="1"/>
          <p:nvPr/>
        </p:nvSpPr>
        <p:spPr>
          <a:xfrm>
            <a:off x="6035040" y="3054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7" name="Text 35"/>
          <p:cNvSpPr txBox="1"/>
          <p:nvPr/>
        </p:nvSpPr>
        <p:spPr>
          <a:xfrm>
            <a:off x="6565392" y="3044952"/>
            <a:ext cx="504748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You build it, you run it</a:t>
            </a:r>
            <a:endParaRPr lang="en-US" sz="1300" dirty="0"/>
          </a:p>
        </p:txBody>
      </p:sp>
      <p:sp>
        <p:nvSpPr>
          <p:cNvPr id="38" name="Text 36"/>
          <p:cNvSpPr txBox="1"/>
          <p:nvPr/>
        </p:nvSpPr>
        <p:spPr>
          <a:xfrm>
            <a:off x="6565392" y="3383280"/>
            <a:ext cx="5047488" cy="256032"/>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Teams own their service in production; shorter feedback loops.</a:t>
            </a:r>
            <a:endParaRPr lang="en-US" sz="1150" dirty="0"/>
          </a:p>
        </p:txBody>
      </p:sp>
      <p:sp>
        <p:nvSpPr>
          <p:cNvPr id="39" name="Shape 37"/>
          <p:cNvSpPr/>
          <p:nvPr/>
        </p:nvSpPr>
        <p:spPr>
          <a:xfrm>
            <a:off x="6035040" y="3639312"/>
            <a:ext cx="384048" cy="384048"/>
          </a:xfrm>
          <a:prstGeom prst="ellipse">
            <a:avLst/>
          </a:prstGeom>
          <a:solidFill>
            <a:srgbClr val="2DA44E"/>
          </a:solidFill>
          <a:ln w="12700">
            <a:solidFill>
              <a:srgbClr val="2DA44E"/>
            </a:solidFill>
            <a:prstDash val="solid"/>
          </a:ln>
        </p:spPr>
      </p:sp>
      <p:sp>
        <p:nvSpPr>
          <p:cNvPr id="40" name="Text 38"/>
          <p:cNvSpPr txBox="1"/>
          <p:nvPr/>
        </p:nvSpPr>
        <p:spPr>
          <a:xfrm>
            <a:off x="603504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41" name="Text 39"/>
          <p:cNvSpPr txBox="1"/>
          <p:nvPr/>
        </p:nvSpPr>
        <p:spPr>
          <a:xfrm>
            <a:off x="6565392" y="3630168"/>
            <a:ext cx="504748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Automated CI/CD (Spinnaker)</a:t>
            </a:r>
            <a:endParaRPr lang="en-US" sz="1300" dirty="0"/>
          </a:p>
        </p:txBody>
      </p:sp>
      <p:sp>
        <p:nvSpPr>
          <p:cNvPr id="42" name="Text 40"/>
          <p:cNvSpPr txBox="1"/>
          <p:nvPr/>
        </p:nvSpPr>
        <p:spPr>
          <a:xfrm>
            <a:off x="6565392" y="3968496"/>
            <a:ext cx="5047488" cy="256032"/>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Frequent canary and blue-green releases without manual gates.</a:t>
            </a:r>
            <a:endParaRPr lang="en-US" sz="1150" dirty="0"/>
          </a:p>
        </p:txBody>
      </p:sp>
      <p:sp>
        <p:nvSpPr>
          <p:cNvPr id="43" name="Shape 41"/>
          <p:cNvSpPr/>
          <p:nvPr/>
        </p:nvSpPr>
        <p:spPr>
          <a:xfrm>
            <a:off x="6035040" y="4224528"/>
            <a:ext cx="384048" cy="384048"/>
          </a:xfrm>
          <a:prstGeom prst="ellipse">
            <a:avLst/>
          </a:prstGeom>
          <a:solidFill>
            <a:srgbClr val="2DA44E"/>
          </a:solidFill>
          <a:ln w="12700">
            <a:solidFill>
              <a:srgbClr val="2DA44E"/>
            </a:solidFill>
            <a:prstDash val="solid"/>
          </a:ln>
        </p:spPr>
      </p:sp>
      <p:sp>
        <p:nvSpPr>
          <p:cNvPr id="44" name="Text 42"/>
          <p:cNvSpPr txBox="1"/>
          <p:nvPr/>
        </p:nvSpPr>
        <p:spPr>
          <a:xfrm>
            <a:off x="603504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45" name="Text 43"/>
          <p:cNvSpPr txBox="1"/>
          <p:nvPr/>
        </p:nvSpPr>
        <p:spPr>
          <a:xfrm>
            <a:off x="6565392" y="4215384"/>
            <a:ext cx="504748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Design for failure</a:t>
            </a:r>
            <a:endParaRPr lang="en-US" sz="1300" dirty="0"/>
          </a:p>
        </p:txBody>
      </p:sp>
      <p:sp>
        <p:nvSpPr>
          <p:cNvPr id="46" name="Text 44"/>
          <p:cNvSpPr txBox="1"/>
          <p:nvPr/>
        </p:nvSpPr>
        <p:spPr>
          <a:xfrm>
            <a:off x="6565392" y="4553712"/>
            <a:ext cx="5047488" cy="256032"/>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Hystrix circuit breakers, fallbacks and Eureka discovery degrade gracefully.</a:t>
            </a:r>
            <a:endParaRPr lang="en-US" sz="1150" dirty="0"/>
          </a:p>
        </p:txBody>
      </p:sp>
      <p:sp>
        <p:nvSpPr>
          <p:cNvPr id="47" name="Shape 45"/>
          <p:cNvSpPr/>
          <p:nvPr/>
        </p:nvSpPr>
        <p:spPr>
          <a:xfrm>
            <a:off x="6035040" y="4809744"/>
            <a:ext cx="384048" cy="384048"/>
          </a:xfrm>
          <a:prstGeom prst="ellipse">
            <a:avLst/>
          </a:prstGeom>
          <a:solidFill>
            <a:srgbClr val="2DA44E"/>
          </a:solidFill>
          <a:ln w="12700">
            <a:solidFill>
              <a:srgbClr val="2DA44E"/>
            </a:solidFill>
            <a:prstDash val="solid"/>
          </a:ln>
        </p:spPr>
      </p:sp>
      <p:sp>
        <p:nvSpPr>
          <p:cNvPr id="48" name="Text 46"/>
          <p:cNvSpPr txBox="1"/>
          <p:nvPr/>
        </p:nvSpPr>
        <p:spPr>
          <a:xfrm>
            <a:off x="6035040" y="4809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9" name="Text 47"/>
          <p:cNvSpPr txBox="1"/>
          <p:nvPr/>
        </p:nvSpPr>
        <p:spPr>
          <a:xfrm>
            <a:off x="6565392" y="4800600"/>
            <a:ext cx="5047488"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Chaos Engineering</a:t>
            </a:r>
            <a:endParaRPr lang="en-US" sz="1300" dirty="0"/>
          </a:p>
        </p:txBody>
      </p:sp>
      <p:sp>
        <p:nvSpPr>
          <p:cNvPr id="50" name="Text 48"/>
          <p:cNvSpPr txBox="1"/>
          <p:nvPr/>
        </p:nvSpPr>
        <p:spPr>
          <a:xfrm>
            <a:off x="6565392" y="5138928"/>
            <a:ext cx="5047488" cy="256032"/>
          </a:xfrm>
          <a:prstGeom prst="rect">
            <a:avLst/>
          </a:prstGeom>
          <a:noFill/>
          <a:ln/>
        </p:spPr>
        <p:txBody>
          <a:bodyPr wrap="square" lIns="0" tIns="0" rIns="0" bIns="0" rtlCol="0" anchor="t"/>
          <a:lstStyle/>
          <a:p>
            <a:pPr indent="0" marL="0">
              <a:buNone/>
            </a:pPr>
            <a:r>
              <a:rPr lang="en-US" sz="1150" dirty="0">
                <a:solidFill>
                  <a:srgbClr val="57606A"/>
                </a:solidFill>
                <a:latin typeface="Calibri" pitchFamily="34" charset="0"/>
                <a:ea typeface="Calibri" pitchFamily="34" charset="-122"/>
                <a:cs typeface="Calibri" pitchFamily="34" charset="-120"/>
              </a:rPr>
              <a:t>Chaos Monkey and the Simian Army kill instances (even regions) on purpose.</a:t>
            </a:r>
            <a:endParaRPr lang="en-US" sz="1150" dirty="0"/>
          </a:p>
        </p:txBody>
      </p:sp>
      <p:sp>
        <p:nvSpPr>
          <p:cNvPr id="51" name="Shape 49"/>
          <p:cNvSpPr/>
          <p:nvPr/>
        </p:nvSpPr>
        <p:spPr>
          <a:xfrm>
            <a:off x="548640" y="5532120"/>
            <a:ext cx="3611880" cy="777240"/>
          </a:xfrm>
          <a:prstGeom prst="rect">
            <a:avLst/>
          </a:prstGeom>
          <a:solidFill>
            <a:srgbClr val="E6F4EA"/>
          </a:solidFill>
          <a:ln w="9525">
            <a:solidFill>
              <a:srgbClr val="E6F4EA"/>
            </a:solidFill>
            <a:prstDash val="solid"/>
          </a:ln>
        </p:spPr>
      </p:sp>
      <p:sp>
        <p:nvSpPr>
          <p:cNvPr id="52" name="Text 50"/>
          <p:cNvSpPr txBox="1"/>
          <p:nvPr/>
        </p:nvSpPr>
        <p:spPr>
          <a:xfrm>
            <a:off x="731520" y="5532120"/>
            <a:ext cx="3291840" cy="777240"/>
          </a:xfrm>
          <a:prstGeom prst="rect">
            <a:avLst/>
          </a:prstGeom>
          <a:noFill/>
          <a:ln/>
        </p:spPr>
        <p:txBody>
          <a:bodyPr wrap="square" lIns="0" tIns="0" rIns="0" bIns="0" rtlCol="0" anchor="ctr"/>
          <a:lstStyle/>
          <a:p>
            <a:pPr indent="0" marL="0">
              <a:buNone/>
            </a:pPr>
            <a:r>
              <a:rPr lang="en-US" sz="1300" b="1" dirty="0">
                <a:solidFill>
                  <a:srgbClr val="2DA44E"/>
                </a:solidFill>
                <a:latin typeface="Calibri" pitchFamily="34" charset="0"/>
                <a:ea typeface="Calibri" pitchFamily="34" charset="-122"/>
                <a:cs typeface="Calibri" pitchFamily="34" charset="-120"/>
              </a:rPr>
              <a:t>Resilience  </a:t>
            </a:r>
            <a:pPr indent="0" marL="0">
              <a:buNone/>
            </a:pPr>
            <a:r>
              <a:rPr lang="en-US" sz="1300" dirty="0">
                <a:solidFill>
                  <a:srgbClr val="1F2328"/>
                </a:solidFill>
                <a:latin typeface="Calibri" pitchFamily="34" charset="0"/>
                <a:ea typeface="Calibri" pitchFamily="34" charset="-122"/>
                <a:cs typeface="Calibri" pitchFamily="34" charset="-120"/>
              </a:rPr>
              <a:t>Failures isolated and rehearsed</a:t>
            </a:r>
            <a:endParaRPr lang="en-US" sz="1300" dirty="0"/>
          </a:p>
        </p:txBody>
      </p:sp>
      <p:sp>
        <p:nvSpPr>
          <p:cNvPr id="53" name="Shape 51"/>
          <p:cNvSpPr/>
          <p:nvPr/>
        </p:nvSpPr>
        <p:spPr>
          <a:xfrm>
            <a:off x="4297680" y="5532120"/>
            <a:ext cx="3611880" cy="777240"/>
          </a:xfrm>
          <a:prstGeom prst="rect">
            <a:avLst/>
          </a:prstGeom>
          <a:solidFill>
            <a:srgbClr val="E6F4EA"/>
          </a:solidFill>
          <a:ln w="9525">
            <a:solidFill>
              <a:srgbClr val="E6F4EA"/>
            </a:solidFill>
            <a:prstDash val="solid"/>
          </a:ln>
        </p:spPr>
      </p:sp>
      <p:sp>
        <p:nvSpPr>
          <p:cNvPr id="54" name="Text 52"/>
          <p:cNvSpPr txBox="1"/>
          <p:nvPr/>
        </p:nvSpPr>
        <p:spPr>
          <a:xfrm>
            <a:off x="4480560" y="5532120"/>
            <a:ext cx="3291840" cy="777240"/>
          </a:xfrm>
          <a:prstGeom prst="rect">
            <a:avLst/>
          </a:prstGeom>
          <a:noFill/>
          <a:ln/>
        </p:spPr>
        <p:txBody>
          <a:bodyPr wrap="square" lIns="0" tIns="0" rIns="0" bIns="0" rtlCol="0" anchor="ctr"/>
          <a:lstStyle/>
          <a:p>
            <a:pPr indent="0" marL="0">
              <a:buNone/>
            </a:pPr>
            <a:r>
              <a:rPr lang="en-US" sz="1300" b="1" dirty="0">
                <a:solidFill>
                  <a:srgbClr val="2DA44E"/>
                </a:solidFill>
                <a:latin typeface="Calibri" pitchFamily="34" charset="0"/>
                <a:ea typeface="Calibri" pitchFamily="34" charset="-122"/>
                <a:cs typeface="Calibri" pitchFamily="34" charset="-120"/>
              </a:rPr>
              <a:t>Scalability  </a:t>
            </a:r>
            <a:pPr indent="0" marL="0">
              <a:buNone/>
            </a:pPr>
            <a:r>
              <a:rPr lang="en-US" sz="1300" dirty="0">
                <a:solidFill>
                  <a:srgbClr val="1F2328"/>
                </a:solidFill>
                <a:latin typeface="Calibri" pitchFamily="34" charset="0"/>
                <a:ea typeface="Calibri" pitchFamily="34" charset="-122"/>
                <a:cs typeface="Calibri" pitchFamily="34" charset="-120"/>
              </a:rPr>
              <a:t>Each service scales on its own</a:t>
            </a:r>
            <a:endParaRPr lang="en-US" sz="1300" dirty="0"/>
          </a:p>
        </p:txBody>
      </p:sp>
      <p:sp>
        <p:nvSpPr>
          <p:cNvPr id="55" name="Shape 53"/>
          <p:cNvSpPr/>
          <p:nvPr/>
        </p:nvSpPr>
        <p:spPr>
          <a:xfrm>
            <a:off x="8046720" y="5532120"/>
            <a:ext cx="3611880" cy="777240"/>
          </a:xfrm>
          <a:prstGeom prst="rect">
            <a:avLst/>
          </a:prstGeom>
          <a:solidFill>
            <a:srgbClr val="E6F4EA"/>
          </a:solidFill>
          <a:ln w="9525">
            <a:solidFill>
              <a:srgbClr val="E6F4EA"/>
            </a:solidFill>
            <a:prstDash val="solid"/>
          </a:ln>
        </p:spPr>
      </p:sp>
      <p:sp>
        <p:nvSpPr>
          <p:cNvPr id="56" name="Text 54"/>
          <p:cNvSpPr txBox="1"/>
          <p:nvPr/>
        </p:nvSpPr>
        <p:spPr>
          <a:xfrm>
            <a:off x="8229600" y="5532120"/>
            <a:ext cx="3291840" cy="777240"/>
          </a:xfrm>
          <a:prstGeom prst="rect">
            <a:avLst/>
          </a:prstGeom>
          <a:noFill/>
          <a:ln/>
        </p:spPr>
        <p:txBody>
          <a:bodyPr wrap="square" lIns="0" tIns="0" rIns="0" bIns="0" rtlCol="0" anchor="ctr"/>
          <a:lstStyle/>
          <a:p>
            <a:pPr indent="0" marL="0">
              <a:buNone/>
            </a:pPr>
            <a:r>
              <a:rPr lang="en-US" sz="1300" b="1" dirty="0">
                <a:solidFill>
                  <a:srgbClr val="2DA44E"/>
                </a:solidFill>
                <a:latin typeface="Calibri" pitchFamily="34" charset="0"/>
                <a:ea typeface="Calibri" pitchFamily="34" charset="-122"/>
                <a:cs typeface="Calibri" pitchFamily="34" charset="-120"/>
              </a:rPr>
              <a:t>Speed  </a:t>
            </a:r>
            <a:pPr indent="0" marL="0">
              <a:buNone/>
            </a:pPr>
            <a:r>
              <a:rPr lang="en-US" sz="1300" dirty="0">
                <a:solidFill>
                  <a:srgbClr val="1F2328"/>
                </a:solidFill>
                <a:latin typeface="Calibri" pitchFamily="34" charset="0"/>
                <a:ea typeface="Calibri" pitchFamily="34" charset="-122"/>
                <a:cs typeface="Calibri" pitchFamily="34" charset="-120"/>
              </a:rPr>
              <a:t>Independent deploys, many a day</a:t>
            </a:r>
            <a:endParaRPr lang="en-US" sz="1300" dirty="0"/>
          </a:p>
        </p:txBody>
      </p:sp>
      <p:sp>
        <p:nvSpPr>
          <p:cNvPr id="57" name="Text 55"/>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rgbClr val="2DA44E"/>
                </a:solidFill>
                <a:latin typeface="Calibri" pitchFamily="34" charset="0"/>
                <a:ea typeface="Calibri" pitchFamily="34" charset="-122"/>
                <a:cs typeface="Calibri" pitchFamily="34" charset="-120"/>
              </a:rPr>
              <a:t>CASE STUDY Q3</a:t>
            </a:r>
            <a:endParaRPr lang="en-US" sz="1200" dirty="0"/>
          </a:p>
        </p:txBody>
      </p:sp>
      <p:sp>
        <p:nvSpPr>
          <p:cNvPr id="3" name="Text 1"/>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1F2328"/>
                </a:solidFill>
                <a:latin typeface="Arial" pitchFamily="34" charset="0"/>
                <a:ea typeface="Arial" pitchFamily="34" charset="-122"/>
                <a:cs typeface="Arial" pitchFamily="34" charset="-120"/>
              </a:rPr>
              <a:t>Capital One: fast and compliant with DevSecOps</a:t>
            </a:r>
            <a:endParaRPr lang="en-US" sz="3000" dirty="0"/>
          </a:p>
        </p:txBody>
      </p:sp>
      <p:sp>
        <p:nvSpPr>
          <p:cNvPr id="4" name="Shape 2"/>
          <p:cNvSpPr/>
          <p:nvPr/>
        </p:nvSpPr>
        <p:spPr>
          <a:xfrm>
            <a:off x="548640" y="1325880"/>
            <a:ext cx="11109960" cy="685800"/>
          </a:xfrm>
          <a:prstGeom prst="rect">
            <a:avLst/>
          </a:prstGeom>
          <a:solidFill>
            <a:srgbClr val="FFF4D6"/>
          </a:solidFill>
          <a:ln w="9525">
            <a:solidFill>
              <a:srgbClr val="FFF4D6"/>
            </a:solidFill>
            <a:prstDash val="solid"/>
          </a:ln>
        </p:spPr>
      </p:sp>
      <p:sp>
        <p:nvSpPr>
          <p:cNvPr id="5" name="Text 3"/>
          <p:cNvSpPr txBox="1"/>
          <p:nvPr/>
        </p:nvSpPr>
        <p:spPr>
          <a:xfrm>
            <a:off x="777240" y="1325880"/>
            <a:ext cx="10698480" cy="685800"/>
          </a:xfrm>
          <a:prstGeom prst="rect">
            <a:avLst/>
          </a:prstGeom>
          <a:noFill/>
          <a:ln/>
        </p:spPr>
        <p:txBody>
          <a:bodyPr wrap="square" lIns="0" tIns="0" rIns="0" bIns="0" rtlCol="0" anchor="ctr"/>
          <a:lstStyle/>
          <a:p>
            <a:pPr indent="0" marL="0">
              <a:buNone/>
            </a:pPr>
            <a:r>
              <a:rPr lang="en-US" sz="1300" b="1" dirty="0">
                <a:solidFill>
                  <a:srgbClr val="BF8700"/>
                </a:solidFill>
                <a:latin typeface="Calibri" pitchFamily="34" charset="0"/>
                <a:ea typeface="Calibri" pitchFamily="34" charset="-122"/>
                <a:cs typeface="Calibri" pitchFamily="34" charset="-120"/>
              </a:rPr>
              <a:t>The dual challenge  </a:t>
            </a:r>
            <a:pPr indent="0" marL="0">
              <a:buNone/>
            </a:pPr>
            <a:r>
              <a:rPr lang="en-US" sz="1300" dirty="0">
                <a:solidFill>
                  <a:srgbClr val="1F2328"/>
                </a:solidFill>
                <a:latin typeface="Calibri" pitchFamily="34" charset="0"/>
                <a:ea typeface="Calibri" pitchFamily="34" charset="-122"/>
                <a:cs typeface="Calibri" pitchFamily="34" charset="-120"/>
              </a:rPr>
              <a:t>6–9 month release cycles from manual reviews and end-of-cycle audits · strict regulation (PCI-DSS, SOX, banking regulators) · fintech competitors shipping faster</a:t>
            </a:r>
            <a:endParaRPr lang="en-US" sz="1300" dirty="0"/>
          </a:p>
        </p:txBody>
      </p:sp>
      <p:sp>
        <p:nvSpPr>
          <p:cNvPr id="6" name="Text 4"/>
          <p:cNvSpPr txBox="1"/>
          <p:nvPr/>
        </p:nvSpPr>
        <p:spPr>
          <a:xfrm>
            <a:off x="548640" y="2194560"/>
            <a:ext cx="5486400" cy="32004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What they did</a:t>
            </a:r>
            <a:endParaRPr lang="en-US" sz="1500" dirty="0"/>
          </a:p>
        </p:txBody>
      </p:sp>
      <p:sp>
        <p:nvSpPr>
          <p:cNvPr id="7" name="Shape 5"/>
          <p:cNvSpPr/>
          <p:nvPr/>
        </p:nvSpPr>
        <p:spPr>
          <a:xfrm>
            <a:off x="548640" y="2606040"/>
            <a:ext cx="2112264" cy="1600200"/>
          </a:xfrm>
          <a:prstGeom prst="rect">
            <a:avLst/>
          </a:prstGeom>
          <a:solidFill>
            <a:srgbClr val="F6F8FA"/>
          </a:solidFill>
          <a:ln w="9525">
            <a:solidFill>
              <a:srgbClr val="D0D7DE"/>
            </a:solidFill>
            <a:prstDash val="solid"/>
          </a:ln>
        </p:spPr>
      </p:sp>
      <p:sp>
        <p:nvSpPr>
          <p:cNvPr id="8" name="Shape 6"/>
          <p:cNvSpPr/>
          <p:nvPr/>
        </p:nvSpPr>
        <p:spPr>
          <a:xfrm>
            <a:off x="713232" y="2770632"/>
            <a:ext cx="384048" cy="384048"/>
          </a:xfrm>
          <a:prstGeom prst="ellipse">
            <a:avLst/>
          </a:prstGeom>
          <a:solidFill>
            <a:srgbClr val="2DA44E"/>
          </a:solidFill>
          <a:ln w="12700">
            <a:solidFill>
              <a:srgbClr val="2DA44E"/>
            </a:solidFill>
            <a:prstDash val="solid"/>
          </a:ln>
        </p:spPr>
      </p:sp>
      <p:sp>
        <p:nvSpPr>
          <p:cNvPr id="9" name="Text 7"/>
          <p:cNvSpPr txBox="1"/>
          <p:nvPr/>
        </p:nvSpPr>
        <p:spPr>
          <a:xfrm>
            <a:off x="713232"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713232" y="3227832"/>
            <a:ext cx="1783080"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Shift-left security</a:t>
            </a:r>
            <a:endParaRPr lang="en-US" sz="1300" dirty="0"/>
          </a:p>
        </p:txBody>
      </p:sp>
      <p:sp>
        <p:nvSpPr>
          <p:cNvPr id="11" name="Text 9"/>
          <p:cNvSpPr txBox="1"/>
          <p:nvPr/>
        </p:nvSpPr>
        <p:spPr>
          <a:xfrm>
            <a:off x="713232" y="3557016"/>
            <a:ext cx="1783080" cy="594360"/>
          </a:xfrm>
          <a:prstGeom prst="rect">
            <a:avLst/>
          </a:prstGeom>
          <a:noFill/>
          <a:ln/>
        </p:spPr>
        <p:txBody>
          <a:bodyPr wrap="square" lIns="0" tIns="0" rIns="0" bIns="0" rtlCol="0" anchor="t"/>
          <a:lstStyle/>
          <a:p>
            <a:pPr indent="0" marL="0">
              <a:buNone/>
            </a:pPr>
            <a:r>
              <a:rPr lang="en-US" sz="1100" dirty="0">
                <a:solidFill>
                  <a:srgbClr val="57606A"/>
                </a:solidFill>
                <a:latin typeface="Calibri" pitchFamily="34" charset="0"/>
                <a:ea typeface="Calibri" pitchFamily="34" charset="-122"/>
                <a:cs typeface="Calibri" pitchFamily="34" charset="-120"/>
              </a:rPr>
              <a:t>Threat modelling and checks from design and coding time.</a:t>
            </a:r>
            <a:endParaRPr lang="en-US" sz="1100" dirty="0"/>
          </a:p>
        </p:txBody>
      </p:sp>
      <p:sp>
        <p:nvSpPr>
          <p:cNvPr id="12" name="Shape 10"/>
          <p:cNvSpPr/>
          <p:nvPr/>
        </p:nvSpPr>
        <p:spPr>
          <a:xfrm>
            <a:off x="2798064" y="2606040"/>
            <a:ext cx="2112264" cy="1600200"/>
          </a:xfrm>
          <a:prstGeom prst="rect">
            <a:avLst/>
          </a:prstGeom>
          <a:solidFill>
            <a:srgbClr val="F6F8FA"/>
          </a:solidFill>
          <a:ln w="9525">
            <a:solidFill>
              <a:srgbClr val="D0D7DE"/>
            </a:solidFill>
            <a:prstDash val="solid"/>
          </a:ln>
        </p:spPr>
      </p:sp>
      <p:sp>
        <p:nvSpPr>
          <p:cNvPr id="13" name="Shape 11"/>
          <p:cNvSpPr/>
          <p:nvPr/>
        </p:nvSpPr>
        <p:spPr>
          <a:xfrm>
            <a:off x="2962656" y="2770632"/>
            <a:ext cx="384048" cy="384048"/>
          </a:xfrm>
          <a:prstGeom prst="ellipse">
            <a:avLst/>
          </a:prstGeom>
          <a:solidFill>
            <a:srgbClr val="2DA44E"/>
          </a:solidFill>
          <a:ln w="12700">
            <a:solidFill>
              <a:srgbClr val="2DA44E"/>
            </a:solidFill>
            <a:prstDash val="solid"/>
          </a:ln>
        </p:spPr>
      </p:sp>
      <p:sp>
        <p:nvSpPr>
          <p:cNvPr id="14" name="Text 12"/>
          <p:cNvSpPr txBox="1"/>
          <p:nvPr/>
        </p:nvSpPr>
        <p:spPr>
          <a:xfrm>
            <a:off x="2962656"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2962656" y="3227832"/>
            <a:ext cx="1783080"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Automated scanning</a:t>
            </a:r>
            <a:endParaRPr lang="en-US" sz="1300" dirty="0"/>
          </a:p>
        </p:txBody>
      </p:sp>
      <p:sp>
        <p:nvSpPr>
          <p:cNvPr id="16" name="Text 14"/>
          <p:cNvSpPr txBox="1"/>
          <p:nvPr/>
        </p:nvSpPr>
        <p:spPr>
          <a:xfrm>
            <a:off x="2962656" y="3557016"/>
            <a:ext cx="1783080" cy="594360"/>
          </a:xfrm>
          <a:prstGeom prst="rect">
            <a:avLst/>
          </a:prstGeom>
          <a:noFill/>
          <a:ln/>
        </p:spPr>
        <p:txBody>
          <a:bodyPr wrap="square" lIns="0" tIns="0" rIns="0" bIns="0" rtlCol="0" anchor="t"/>
          <a:lstStyle/>
          <a:p>
            <a:pPr indent="0" marL="0">
              <a:buNone/>
            </a:pPr>
            <a:r>
              <a:rPr lang="en-US" sz="1100" dirty="0">
                <a:solidFill>
                  <a:srgbClr val="57606A"/>
                </a:solidFill>
                <a:latin typeface="Calibri" pitchFamily="34" charset="0"/>
                <a:ea typeface="Calibri" pitchFamily="34" charset="-122"/>
                <a:cs typeface="Calibri" pitchFamily="34" charset="-120"/>
              </a:rPr>
              <a:t>SAST, SCA, DAST, image and secrets scans on every build.</a:t>
            </a:r>
            <a:endParaRPr lang="en-US" sz="1100" dirty="0"/>
          </a:p>
        </p:txBody>
      </p:sp>
      <p:sp>
        <p:nvSpPr>
          <p:cNvPr id="17" name="Shape 15"/>
          <p:cNvSpPr/>
          <p:nvPr/>
        </p:nvSpPr>
        <p:spPr>
          <a:xfrm>
            <a:off x="5047488" y="2606040"/>
            <a:ext cx="2112264" cy="1600200"/>
          </a:xfrm>
          <a:prstGeom prst="rect">
            <a:avLst/>
          </a:prstGeom>
          <a:solidFill>
            <a:srgbClr val="F6F8FA"/>
          </a:solidFill>
          <a:ln w="9525">
            <a:solidFill>
              <a:srgbClr val="D0D7DE"/>
            </a:solidFill>
            <a:prstDash val="solid"/>
          </a:ln>
        </p:spPr>
      </p:sp>
      <p:sp>
        <p:nvSpPr>
          <p:cNvPr id="18" name="Shape 16"/>
          <p:cNvSpPr/>
          <p:nvPr/>
        </p:nvSpPr>
        <p:spPr>
          <a:xfrm>
            <a:off x="5212080" y="2770632"/>
            <a:ext cx="384048" cy="384048"/>
          </a:xfrm>
          <a:prstGeom prst="ellipse">
            <a:avLst/>
          </a:prstGeom>
          <a:solidFill>
            <a:srgbClr val="2DA44E"/>
          </a:solidFill>
          <a:ln w="12700">
            <a:solidFill>
              <a:srgbClr val="2DA44E"/>
            </a:solidFill>
            <a:prstDash val="solid"/>
          </a:ln>
        </p:spPr>
      </p:sp>
      <p:sp>
        <p:nvSpPr>
          <p:cNvPr id="19" name="Text 17"/>
          <p:cNvSpPr txBox="1"/>
          <p:nvPr/>
        </p:nvSpPr>
        <p:spPr>
          <a:xfrm>
            <a:off x="521208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5212080" y="3227832"/>
            <a:ext cx="1783080"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Compliance as code</a:t>
            </a:r>
            <a:endParaRPr lang="en-US" sz="1300" dirty="0"/>
          </a:p>
        </p:txBody>
      </p:sp>
      <p:sp>
        <p:nvSpPr>
          <p:cNvPr id="21" name="Text 19"/>
          <p:cNvSpPr txBox="1"/>
          <p:nvPr/>
        </p:nvSpPr>
        <p:spPr>
          <a:xfrm>
            <a:off x="5212080" y="3557016"/>
            <a:ext cx="1783080" cy="594360"/>
          </a:xfrm>
          <a:prstGeom prst="rect">
            <a:avLst/>
          </a:prstGeom>
          <a:noFill/>
          <a:ln/>
        </p:spPr>
        <p:txBody>
          <a:bodyPr wrap="square" lIns="0" tIns="0" rIns="0" bIns="0" rtlCol="0" anchor="t"/>
          <a:lstStyle/>
          <a:p>
            <a:pPr indent="0" marL="0">
              <a:buNone/>
            </a:pPr>
            <a:r>
              <a:rPr lang="en-US" sz="1100" dirty="0">
                <a:solidFill>
                  <a:srgbClr val="57606A"/>
                </a:solidFill>
                <a:latin typeface="Calibri" pitchFamily="34" charset="0"/>
                <a:ea typeface="Calibri" pitchFamily="34" charset="-122"/>
                <a:cs typeface="Calibri" pitchFamily="34" charset="-120"/>
              </a:rPr>
              <a:t>Cloud Custodian enforces encryption, access and tagging.</a:t>
            </a:r>
            <a:endParaRPr lang="en-US" sz="1100" dirty="0"/>
          </a:p>
        </p:txBody>
      </p:sp>
      <p:sp>
        <p:nvSpPr>
          <p:cNvPr id="22" name="Shape 20"/>
          <p:cNvSpPr/>
          <p:nvPr/>
        </p:nvSpPr>
        <p:spPr>
          <a:xfrm>
            <a:off x="7296912" y="2606040"/>
            <a:ext cx="2112264" cy="1600200"/>
          </a:xfrm>
          <a:prstGeom prst="rect">
            <a:avLst/>
          </a:prstGeom>
          <a:solidFill>
            <a:srgbClr val="F6F8FA"/>
          </a:solidFill>
          <a:ln w="9525">
            <a:solidFill>
              <a:srgbClr val="D0D7DE"/>
            </a:solidFill>
            <a:prstDash val="solid"/>
          </a:ln>
        </p:spPr>
      </p:sp>
      <p:sp>
        <p:nvSpPr>
          <p:cNvPr id="23" name="Shape 21"/>
          <p:cNvSpPr/>
          <p:nvPr/>
        </p:nvSpPr>
        <p:spPr>
          <a:xfrm>
            <a:off x="7461504" y="2770632"/>
            <a:ext cx="384048" cy="384048"/>
          </a:xfrm>
          <a:prstGeom prst="ellipse">
            <a:avLst/>
          </a:prstGeom>
          <a:solidFill>
            <a:srgbClr val="2DA44E"/>
          </a:solidFill>
          <a:ln w="12700">
            <a:solidFill>
              <a:srgbClr val="2DA44E"/>
            </a:solidFill>
            <a:prstDash val="solid"/>
          </a:ln>
        </p:spPr>
      </p:sp>
      <p:sp>
        <p:nvSpPr>
          <p:cNvPr id="24" name="Text 22"/>
          <p:cNvSpPr txBox="1"/>
          <p:nvPr/>
        </p:nvSpPr>
        <p:spPr>
          <a:xfrm>
            <a:off x="7461504"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7461504" y="3227832"/>
            <a:ext cx="1783080"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Standard pipelines</a:t>
            </a:r>
            <a:endParaRPr lang="en-US" sz="1300" dirty="0"/>
          </a:p>
        </p:txBody>
      </p:sp>
      <p:sp>
        <p:nvSpPr>
          <p:cNvPr id="26" name="Text 24"/>
          <p:cNvSpPr txBox="1"/>
          <p:nvPr/>
        </p:nvSpPr>
        <p:spPr>
          <a:xfrm>
            <a:off x="7461504" y="3557016"/>
            <a:ext cx="1783080" cy="594360"/>
          </a:xfrm>
          <a:prstGeom prst="rect">
            <a:avLst/>
          </a:prstGeom>
          <a:noFill/>
          <a:ln/>
        </p:spPr>
        <p:txBody>
          <a:bodyPr wrap="square" lIns="0" tIns="0" rIns="0" bIns="0" rtlCol="0" anchor="t"/>
          <a:lstStyle/>
          <a:p>
            <a:pPr indent="0" marL="0">
              <a:buNone/>
            </a:pPr>
            <a:r>
              <a:rPr lang="en-US" sz="1100" dirty="0">
                <a:solidFill>
                  <a:srgbClr val="57606A"/>
                </a:solidFill>
                <a:latin typeface="Calibri" pitchFamily="34" charset="0"/>
                <a:ea typeface="Calibri" pitchFamily="34" charset="-122"/>
                <a:cs typeface="Calibri" pitchFamily="34" charset="-120"/>
              </a:rPr>
              <a:t>Pre-approved CI/CD with built-in gates (Hygieia).</a:t>
            </a:r>
            <a:endParaRPr lang="en-US" sz="1100" dirty="0"/>
          </a:p>
        </p:txBody>
      </p:sp>
      <p:sp>
        <p:nvSpPr>
          <p:cNvPr id="27" name="Shape 25"/>
          <p:cNvSpPr/>
          <p:nvPr/>
        </p:nvSpPr>
        <p:spPr>
          <a:xfrm>
            <a:off x="9546336" y="2606040"/>
            <a:ext cx="2112264" cy="1600200"/>
          </a:xfrm>
          <a:prstGeom prst="rect">
            <a:avLst/>
          </a:prstGeom>
          <a:solidFill>
            <a:srgbClr val="F6F8FA"/>
          </a:solidFill>
          <a:ln w="9525">
            <a:solidFill>
              <a:srgbClr val="D0D7DE"/>
            </a:solidFill>
            <a:prstDash val="solid"/>
          </a:ln>
        </p:spPr>
      </p:sp>
      <p:sp>
        <p:nvSpPr>
          <p:cNvPr id="28" name="Shape 26"/>
          <p:cNvSpPr/>
          <p:nvPr/>
        </p:nvSpPr>
        <p:spPr>
          <a:xfrm>
            <a:off x="9710928" y="2770632"/>
            <a:ext cx="384048" cy="384048"/>
          </a:xfrm>
          <a:prstGeom prst="ellipse">
            <a:avLst/>
          </a:prstGeom>
          <a:solidFill>
            <a:srgbClr val="2DA44E"/>
          </a:solidFill>
          <a:ln w="12700">
            <a:solidFill>
              <a:srgbClr val="2DA44E"/>
            </a:solidFill>
            <a:prstDash val="solid"/>
          </a:ln>
        </p:spPr>
      </p:sp>
      <p:sp>
        <p:nvSpPr>
          <p:cNvPr id="29" name="Text 27"/>
          <p:cNvSpPr txBox="1"/>
          <p:nvPr/>
        </p:nvSpPr>
        <p:spPr>
          <a:xfrm>
            <a:off x="9710928"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710928" y="3227832"/>
            <a:ext cx="1783080" cy="329184"/>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IaC + cloud</a:t>
            </a:r>
            <a:endParaRPr lang="en-US" sz="1300" dirty="0"/>
          </a:p>
        </p:txBody>
      </p:sp>
      <p:sp>
        <p:nvSpPr>
          <p:cNvPr id="31" name="Text 29"/>
          <p:cNvSpPr txBox="1"/>
          <p:nvPr/>
        </p:nvSpPr>
        <p:spPr>
          <a:xfrm>
            <a:off x="9710928" y="3557016"/>
            <a:ext cx="1783080" cy="594360"/>
          </a:xfrm>
          <a:prstGeom prst="rect">
            <a:avLst/>
          </a:prstGeom>
          <a:noFill/>
          <a:ln/>
        </p:spPr>
        <p:txBody>
          <a:bodyPr wrap="square" lIns="0" tIns="0" rIns="0" bIns="0" rtlCol="0" anchor="t"/>
          <a:lstStyle/>
          <a:p>
            <a:pPr indent="0" marL="0">
              <a:buNone/>
            </a:pPr>
            <a:r>
              <a:rPr lang="en-US" sz="1100" dirty="0">
                <a:solidFill>
                  <a:srgbClr val="57606A"/>
                </a:solidFill>
                <a:latin typeface="Calibri" pitchFamily="34" charset="0"/>
                <a:ea typeface="Calibri" pitchFamily="34" charset="-122"/>
                <a:cs typeface="Calibri" pitchFamily="34" charset="-120"/>
              </a:rPr>
              <a:t>Immutable, reproducible, auditable environments.</a:t>
            </a:r>
            <a:endParaRPr lang="en-US" sz="1100" dirty="0"/>
          </a:p>
        </p:txBody>
      </p:sp>
      <p:sp>
        <p:nvSpPr>
          <p:cNvPr id="32" name="Text 30"/>
          <p:cNvSpPr txBox="1"/>
          <p:nvPr/>
        </p:nvSpPr>
        <p:spPr>
          <a:xfrm>
            <a:off x="548640" y="4389120"/>
            <a:ext cx="7315200" cy="32004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Why embedding security accelerates innovation</a:t>
            </a:r>
            <a:endParaRPr lang="en-US" sz="1500" dirty="0"/>
          </a:p>
        </p:txBody>
      </p:sp>
      <p:sp>
        <p:nvSpPr>
          <p:cNvPr id="33" name="Text 31"/>
          <p:cNvSpPr txBox="1"/>
          <p:nvPr/>
        </p:nvSpPr>
        <p:spPr>
          <a:xfrm>
            <a:off x="548640" y="4800600"/>
            <a:ext cx="5486400" cy="365760"/>
          </a:xfrm>
          <a:prstGeom prst="rect">
            <a:avLst/>
          </a:prstGeom>
          <a:noFill/>
          <a:ln/>
        </p:spPr>
        <p:txBody>
          <a:bodyPr wrap="square" lIns="0" tIns="0" rIns="0" bIns="0" rtlCol="0" anchor="ctr"/>
          <a:lstStyle/>
          <a:p>
            <a:pPr indent="0" marL="0">
              <a:buNone/>
            </a:pPr>
            <a:r>
              <a:rPr lang="en-US" sz="1250" b="1" dirty="0">
                <a:solidFill>
                  <a:srgbClr val="2DA44E"/>
                </a:solidFill>
                <a:latin typeface="Calibri" pitchFamily="34" charset="0"/>
                <a:ea typeface="Calibri" pitchFamily="34" charset="-122"/>
                <a:cs typeface="Calibri" pitchFamily="34" charset="-120"/>
              </a:rPr>
              <a:t>Cheaper fixes: </a:t>
            </a:r>
            <a:pPr indent="0" marL="0">
              <a:buNone/>
            </a:pPr>
            <a:r>
              <a:rPr lang="en-US" sz="1250" dirty="0">
                <a:solidFill>
                  <a:srgbClr val="1F2328"/>
                </a:solidFill>
                <a:latin typeface="Calibri" pitchFamily="34" charset="0"/>
                <a:ea typeface="Calibri" pitchFamily="34" charset="-122"/>
                <a:cs typeface="Calibri" pitchFamily="34" charset="-120"/>
              </a:rPr>
              <a:t>minutes in a pull request vs weeks at the final gate</a:t>
            </a:r>
            <a:endParaRPr lang="en-US" sz="1250" dirty="0"/>
          </a:p>
        </p:txBody>
      </p:sp>
      <p:sp>
        <p:nvSpPr>
          <p:cNvPr id="34" name="Text 32"/>
          <p:cNvSpPr txBox="1"/>
          <p:nvPr/>
        </p:nvSpPr>
        <p:spPr>
          <a:xfrm>
            <a:off x="6217920" y="4800600"/>
            <a:ext cx="5486400" cy="365760"/>
          </a:xfrm>
          <a:prstGeom prst="rect">
            <a:avLst/>
          </a:prstGeom>
          <a:noFill/>
          <a:ln/>
        </p:spPr>
        <p:txBody>
          <a:bodyPr wrap="square" lIns="0" tIns="0" rIns="0" bIns="0" rtlCol="0" anchor="ctr"/>
          <a:lstStyle/>
          <a:p>
            <a:pPr indent="0" marL="0">
              <a:buNone/>
            </a:pPr>
            <a:r>
              <a:rPr lang="en-US" sz="1250" b="1" dirty="0">
                <a:solidFill>
                  <a:srgbClr val="2DA44E"/>
                </a:solidFill>
                <a:latin typeface="Calibri" pitchFamily="34" charset="0"/>
                <a:ea typeface="Calibri" pitchFamily="34" charset="-122"/>
                <a:cs typeface="Calibri" pitchFamily="34" charset="-120"/>
              </a:rPr>
              <a:t>No end-of-cycle queue: </a:t>
            </a:r>
            <a:pPr indent="0" marL="0">
              <a:buNone/>
            </a:pPr>
            <a:r>
              <a:rPr lang="en-US" sz="1250" dirty="0">
                <a:solidFill>
                  <a:srgbClr val="1F2328"/>
                </a:solidFill>
                <a:latin typeface="Calibri" pitchFamily="34" charset="0"/>
                <a:ea typeface="Calibri" pitchFamily="34" charset="-122"/>
                <a:cs typeface="Calibri" pitchFamily="34" charset="-120"/>
              </a:rPr>
              <a:t>small, frequent releases</a:t>
            </a:r>
            <a:endParaRPr lang="en-US" sz="1250" dirty="0"/>
          </a:p>
        </p:txBody>
      </p:sp>
      <p:sp>
        <p:nvSpPr>
          <p:cNvPr id="35" name="Text 33"/>
          <p:cNvSpPr txBox="1"/>
          <p:nvPr/>
        </p:nvSpPr>
        <p:spPr>
          <a:xfrm>
            <a:off x="548640" y="5184648"/>
            <a:ext cx="5486400" cy="365760"/>
          </a:xfrm>
          <a:prstGeom prst="rect">
            <a:avLst/>
          </a:prstGeom>
          <a:noFill/>
          <a:ln/>
        </p:spPr>
        <p:txBody>
          <a:bodyPr wrap="square" lIns="0" tIns="0" rIns="0" bIns="0" rtlCol="0" anchor="ctr"/>
          <a:lstStyle/>
          <a:p>
            <a:pPr indent="0" marL="0">
              <a:buNone/>
            </a:pPr>
            <a:r>
              <a:rPr lang="en-US" sz="1250" b="1" dirty="0">
                <a:solidFill>
                  <a:srgbClr val="2DA44E"/>
                </a:solidFill>
                <a:latin typeface="Calibri" pitchFamily="34" charset="0"/>
                <a:ea typeface="Calibri" pitchFamily="34" charset="-122"/>
                <a:cs typeface="Calibri" pitchFamily="34" charset="-120"/>
              </a:rPr>
              <a:t>Lower risk: </a:t>
            </a:r>
            <a:pPr indent="0" marL="0">
              <a:buNone/>
            </a:pPr>
            <a:r>
              <a:rPr lang="en-US" sz="1250" dirty="0">
                <a:solidFill>
                  <a:srgbClr val="1F2328"/>
                </a:solidFill>
                <a:latin typeface="Calibri" pitchFamily="34" charset="0"/>
                <a:ea typeface="Calibri" pitchFamily="34" charset="-122"/>
                <a:cs typeface="Calibri" pitchFamily="34" charset="-120"/>
              </a:rPr>
              <a:t>small changes are easy to test and roll back</a:t>
            </a:r>
            <a:endParaRPr lang="en-US" sz="1250" dirty="0"/>
          </a:p>
        </p:txBody>
      </p:sp>
      <p:sp>
        <p:nvSpPr>
          <p:cNvPr id="36" name="Text 34"/>
          <p:cNvSpPr txBox="1"/>
          <p:nvPr/>
        </p:nvSpPr>
        <p:spPr>
          <a:xfrm>
            <a:off x="6217920" y="5184648"/>
            <a:ext cx="5486400" cy="365760"/>
          </a:xfrm>
          <a:prstGeom prst="rect">
            <a:avLst/>
          </a:prstGeom>
          <a:noFill/>
          <a:ln/>
        </p:spPr>
        <p:txBody>
          <a:bodyPr wrap="square" lIns="0" tIns="0" rIns="0" bIns="0" rtlCol="0" anchor="ctr"/>
          <a:lstStyle/>
          <a:p>
            <a:pPr indent="0" marL="0">
              <a:buNone/>
            </a:pPr>
            <a:r>
              <a:rPr lang="en-US" sz="1250" b="1" dirty="0">
                <a:solidFill>
                  <a:srgbClr val="2DA44E"/>
                </a:solidFill>
                <a:latin typeface="Calibri" pitchFamily="34" charset="0"/>
                <a:ea typeface="Calibri" pitchFamily="34" charset="-122"/>
                <a:cs typeface="Calibri" pitchFamily="34" charset="-120"/>
              </a:rPr>
              <a:t>Free audit trail: </a:t>
            </a:r>
            <a:pPr indent="0" marL="0">
              <a:buNone/>
            </a:pPr>
            <a:r>
              <a:rPr lang="en-US" sz="1250" dirty="0">
                <a:solidFill>
                  <a:srgbClr val="1F2328"/>
                </a:solidFill>
                <a:latin typeface="Calibri" pitchFamily="34" charset="0"/>
                <a:ea typeface="Calibri" pitchFamily="34" charset="-122"/>
                <a:cs typeface="Calibri" pitchFamily="34" charset="-120"/>
              </a:rPr>
              <a:t>pipeline logs satisfy regulators</a:t>
            </a:r>
            <a:endParaRPr lang="en-US" sz="1250" dirty="0"/>
          </a:p>
        </p:txBody>
      </p:sp>
      <p:sp>
        <p:nvSpPr>
          <p:cNvPr id="37" name="Text 35"/>
          <p:cNvSpPr txBox="1"/>
          <p:nvPr/>
        </p:nvSpPr>
        <p:spPr>
          <a:xfrm>
            <a:off x="548640" y="5568696"/>
            <a:ext cx="5486400" cy="365760"/>
          </a:xfrm>
          <a:prstGeom prst="rect">
            <a:avLst/>
          </a:prstGeom>
          <a:noFill/>
          <a:ln/>
        </p:spPr>
        <p:txBody>
          <a:bodyPr wrap="square" lIns="0" tIns="0" rIns="0" bIns="0" rtlCol="0" anchor="ctr"/>
          <a:lstStyle/>
          <a:p>
            <a:pPr indent="0" marL="0">
              <a:buNone/>
            </a:pPr>
            <a:r>
              <a:rPr lang="en-US" sz="1250" b="1" dirty="0">
                <a:solidFill>
                  <a:srgbClr val="2DA44E"/>
                </a:solidFill>
                <a:latin typeface="Calibri" pitchFamily="34" charset="0"/>
                <a:ea typeface="Calibri" pitchFamily="34" charset="-122"/>
                <a:cs typeface="Calibri" pitchFamily="34" charset="-120"/>
              </a:rPr>
              <a:t>Fewer incidents: </a:t>
            </a:r>
            <a:pPr indent="0" marL="0">
              <a:buNone/>
            </a:pPr>
            <a:r>
              <a:rPr lang="en-US" sz="1250" dirty="0">
                <a:solidFill>
                  <a:srgbClr val="1F2328"/>
                </a:solidFill>
                <a:latin typeface="Calibri" pitchFamily="34" charset="0"/>
                <a:ea typeface="Calibri" pitchFamily="34" charset="-122"/>
                <a:cs typeface="Calibri" pitchFamily="34" charset="-120"/>
              </a:rPr>
              <a:t>guardrails stop known-bad code early</a:t>
            </a:r>
            <a:endParaRPr lang="en-US" sz="1250" dirty="0"/>
          </a:p>
        </p:txBody>
      </p:sp>
      <p:sp>
        <p:nvSpPr>
          <p:cNvPr id="38" name="Text 36"/>
          <p:cNvSpPr txBox="1"/>
          <p:nvPr/>
        </p:nvSpPr>
        <p:spPr>
          <a:xfrm>
            <a:off x="6217920" y="5568696"/>
            <a:ext cx="5486400" cy="365760"/>
          </a:xfrm>
          <a:prstGeom prst="rect">
            <a:avLst/>
          </a:prstGeom>
          <a:noFill/>
          <a:ln/>
        </p:spPr>
        <p:txBody>
          <a:bodyPr wrap="square" lIns="0" tIns="0" rIns="0" bIns="0" rtlCol="0" anchor="ctr"/>
          <a:lstStyle/>
          <a:p>
            <a:pPr indent="0" marL="0">
              <a:buNone/>
            </a:pPr>
            <a:r>
              <a:rPr lang="en-US" sz="1250" b="1" dirty="0">
                <a:solidFill>
                  <a:srgbClr val="2DA44E"/>
                </a:solidFill>
                <a:latin typeface="Calibri" pitchFamily="34" charset="0"/>
                <a:ea typeface="Calibri" pitchFamily="34" charset="-122"/>
                <a:cs typeface="Calibri" pitchFamily="34" charset="-120"/>
              </a:rPr>
              <a:t>Culture: </a:t>
            </a:r>
            <a:pPr indent="0" marL="0">
              <a:buNone/>
            </a:pPr>
            <a:r>
              <a:rPr lang="en-US" sz="1250" dirty="0">
                <a:solidFill>
                  <a:srgbClr val="1F2328"/>
                </a:solidFill>
                <a:latin typeface="Calibri" pitchFamily="34" charset="0"/>
                <a:ea typeface="Calibri" pitchFamily="34" charset="-122"/>
                <a:cs typeface="Calibri" pitchFamily="34" charset="-120"/>
              </a:rPr>
              <a:t>security team becomes enabler, not gatekeeper</a:t>
            </a:r>
            <a:endParaRPr lang="en-US" sz="1250" dirty="0"/>
          </a:p>
        </p:txBody>
      </p:sp>
      <p:sp>
        <p:nvSpPr>
          <p:cNvPr id="39" name="Text 37"/>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150" i="1" dirty="0">
                <a:solidFill>
                  <a:srgbClr val="57606A"/>
                </a:solidFill>
                <a:latin typeface="Calibri" pitchFamily="34" charset="0"/>
                <a:ea typeface="Calibri" pitchFamily="34" charset="-122"/>
                <a:cs typeface="Calibri" pitchFamily="34" charset="-120"/>
              </a:rPr>
              <a:t>Caveat: the 2019 breach came from a cloud misconfiguration, so continuous config monitoring and least privilege are part of DevSecOps too.</a:t>
            </a:r>
            <a:endParaRPr lang="en-US" sz="1150" dirty="0"/>
          </a:p>
        </p:txBody>
      </p:sp>
      <p:sp>
        <p:nvSpPr>
          <p:cNvPr id="40" name="Text 38"/>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rgbClr val="2DA44E"/>
                </a:solidFill>
                <a:latin typeface="Calibri" pitchFamily="34" charset="0"/>
                <a:ea typeface="Calibri" pitchFamily="34" charset="-122"/>
                <a:cs typeface="Calibri" pitchFamily="34" charset="-120"/>
              </a:rPr>
              <a:t>THE PROJECT</a:t>
            </a:r>
            <a:endParaRPr lang="en-US" sz="1200" dirty="0"/>
          </a:p>
        </p:txBody>
      </p:sp>
      <p:sp>
        <p:nvSpPr>
          <p:cNvPr id="3" name="Text 1"/>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1F2328"/>
                </a:solidFill>
                <a:latin typeface="Arial" pitchFamily="34" charset="0"/>
                <a:ea typeface="Arial" pitchFamily="34" charset="-122"/>
                <a:cs typeface="Arial" pitchFamily="34" charset="-120"/>
              </a:rPr>
              <a:t>Connect-The-Dots: what we deployed</a:t>
            </a:r>
            <a:endParaRPr lang="en-US" sz="3000" dirty="0"/>
          </a:p>
        </p:txBody>
      </p:sp>
      <p:sp>
        <p:nvSpPr>
          <p:cNvPr id="4" name="Text 2"/>
          <p:cNvSpPr txBox="1"/>
          <p:nvPr/>
        </p:nvSpPr>
        <p:spPr>
          <a:xfrm>
            <a:off x="548640" y="1280160"/>
            <a:ext cx="4206240" cy="914400"/>
          </a:xfrm>
          <a:prstGeom prst="rect">
            <a:avLst/>
          </a:prstGeom>
          <a:noFill/>
          <a:ln/>
        </p:spPr>
        <p:txBody>
          <a:bodyPr wrap="square" lIns="0" tIns="0" rIns="0" bIns="0" rtlCol="0" anchor="t"/>
          <a:lstStyle/>
          <a:p>
            <a:pPr indent="0" marL="0">
              <a:buNone/>
            </a:pPr>
            <a:r>
              <a:rPr lang="en-US" sz="1400" dirty="0">
                <a:solidFill>
                  <a:srgbClr val="1F2328"/>
                </a:solidFill>
                <a:latin typeface="Calibri" pitchFamily="34" charset="0"/>
                <a:ea typeface="Calibri" pitchFamily="34" charset="-122"/>
                <a:cs typeface="Calibri" pitchFamily="34" charset="-120"/>
              </a:rPr>
              <a:t>A B.Tech hackathon project: a containerised web system that stores metadata, uploads and downloads files, and checks the health of every service from one dashboard.</a:t>
            </a:r>
            <a:endParaRPr lang="en-US" sz="1400" dirty="0"/>
          </a:p>
        </p:txBody>
      </p:sp>
      <p:sp>
        <p:nvSpPr>
          <p:cNvPr id="5" name="Text 3"/>
          <p:cNvSpPr txBox="1"/>
          <p:nvPr/>
        </p:nvSpPr>
        <p:spPr>
          <a:xfrm>
            <a:off x="548640" y="2240280"/>
            <a:ext cx="4206240" cy="347472"/>
          </a:xfrm>
          <a:prstGeom prst="rect">
            <a:avLst/>
          </a:prstGeom>
          <a:noFill/>
          <a:ln/>
        </p:spPr>
        <p:txBody>
          <a:bodyPr wrap="square" lIns="0" tIns="0" rIns="0" bIns="0" rtlCol="0" anchor="ctr"/>
          <a:lstStyle/>
          <a:p>
            <a:pPr indent="0" marL="0">
              <a:buNone/>
            </a:pPr>
            <a:r>
              <a:rPr lang="en-US" sz="1300" b="1" dirty="0">
                <a:solidFill>
                  <a:srgbClr val="2DA44E"/>
                </a:solidFill>
                <a:latin typeface="Calibri" pitchFamily="34" charset="0"/>
                <a:ea typeface="Calibri" pitchFamily="34" charset="-122"/>
                <a:cs typeface="Calibri" pitchFamily="34" charset="-120"/>
              </a:rPr>
              <a:t>Frontend  </a:t>
            </a:r>
            <a:pPr indent="0" marL="0">
              <a:buNone/>
            </a:pPr>
            <a:r>
              <a:rPr lang="en-US" sz="1300" dirty="0">
                <a:solidFill>
                  <a:srgbClr val="1F2328"/>
                </a:solidFill>
                <a:latin typeface="Calibri" pitchFamily="34" charset="0"/>
                <a:ea typeface="Calibri" pitchFamily="34" charset="-122"/>
                <a:cs typeface="Calibri" pitchFamily="34" charset="-120"/>
              </a:rPr>
              <a:t>React + Vite, served by Nginx</a:t>
            </a:r>
            <a:endParaRPr lang="en-US" sz="1300" dirty="0"/>
          </a:p>
        </p:txBody>
      </p:sp>
      <p:sp>
        <p:nvSpPr>
          <p:cNvPr id="6" name="Text 4"/>
          <p:cNvSpPr txBox="1"/>
          <p:nvPr/>
        </p:nvSpPr>
        <p:spPr>
          <a:xfrm>
            <a:off x="548640" y="2569464"/>
            <a:ext cx="4206240" cy="347472"/>
          </a:xfrm>
          <a:prstGeom prst="rect">
            <a:avLst/>
          </a:prstGeom>
          <a:noFill/>
          <a:ln/>
        </p:spPr>
        <p:txBody>
          <a:bodyPr wrap="square" lIns="0" tIns="0" rIns="0" bIns="0" rtlCol="0" anchor="ctr"/>
          <a:lstStyle/>
          <a:p>
            <a:pPr indent="0" marL="0">
              <a:buNone/>
            </a:pPr>
            <a:r>
              <a:rPr lang="en-US" sz="1300" b="1" dirty="0">
                <a:solidFill>
                  <a:srgbClr val="2DA44E"/>
                </a:solidFill>
                <a:latin typeface="Calibri" pitchFamily="34" charset="0"/>
                <a:ea typeface="Calibri" pitchFamily="34" charset="-122"/>
                <a:cs typeface="Calibri" pitchFamily="34" charset="-120"/>
              </a:rPr>
              <a:t>Backend  </a:t>
            </a:r>
            <a:pPr indent="0" marL="0">
              <a:buNone/>
            </a:pPr>
            <a:r>
              <a:rPr lang="en-US" sz="1300" dirty="0">
                <a:solidFill>
                  <a:srgbClr val="1F2328"/>
                </a:solidFill>
                <a:latin typeface="Calibri" pitchFamily="34" charset="0"/>
                <a:ea typeface="Calibri" pitchFamily="34" charset="-122"/>
                <a:cs typeface="Calibri" pitchFamily="34" charset="-120"/>
              </a:rPr>
              <a:t>Spring Boot 3.4, Java 17</a:t>
            </a:r>
            <a:endParaRPr lang="en-US" sz="1300" dirty="0"/>
          </a:p>
        </p:txBody>
      </p:sp>
      <p:sp>
        <p:nvSpPr>
          <p:cNvPr id="7" name="Text 5"/>
          <p:cNvSpPr txBox="1"/>
          <p:nvPr/>
        </p:nvSpPr>
        <p:spPr>
          <a:xfrm>
            <a:off x="548640" y="2898648"/>
            <a:ext cx="4206240" cy="347472"/>
          </a:xfrm>
          <a:prstGeom prst="rect">
            <a:avLst/>
          </a:prstGeom>
          <a:noFill/>
          <a:ln/>
        </p:spPr>
        <p:txBody>
          <a:bodyPr wrap="square" lIns="0" tIns="0" rIns="0" bIns="0" rtlCol="0" anchor="ctr"/>
          <a:lstStyle/>
          <a:p>
            <a:pPr indent="0" marL="0">
              <a:buNone/>
            </a:pPr>
            <a:r>
              <a:rPr lang="en-US" sz="1300" b="1" dirty="0">
                <a:solidFill>
                  <a:srgbClr val="2DA44E"/>
                </a:solidFill>
                <a:latin typeface="Calibri" pitchFamily="34" charset="0"/>
                <a:ea typeface="Calibri" pitchFamily="34" charset="-122"/>
                <a:cs typeface="Calibri" pitchFamily="34" charset="-120"/>
              </a:rPr>
              <a:t>Database  </a:t>
            </a:r>
            <a:pPr indent="0" marL="0">
              <a:buNone/>
            </a:pPr>
            <a:r>
              <a:rPr lang="en-US" sz="1300" dirty="0">
                <a:solidFill>
                  <a:srgbClr val="1F2328"/>
                </a:solidFill>
                <a:latin typeface="Calibri" pitchFamily="34" charset="0"/>
                <a:ea typeface="Calibri" pitchFamily="34" charset="-122"/>
                <a:cs typeface="Calibri" pitchFamily="34" charset="-120"/>
              </a:rPr>
              <a:t>MongoDB 7 (metadata)</a:t>
            </a:r>
            <a:endParaRPr lang="en-US" sz="1300" dirty="0"/>
          </a:p>
        </p:txBody>
      </p:sp>
      <p:sp>
        <p:nvSpPr>
          <p:cNvPr id="8" name="Text 6"/>
          <p:cNvSpPr txBox="1"/>
          <p:nvPr/>
        </p:nvSpPr>
        <p:spPr>
          <a:xfrm>
            <a:off x="548640" y="3227832"/>
            <a:ext cx="4206240" cy="347472"/>
          </a:xfrm>
          <a:prstGeom prst="rect">
            <a:avLst/>
          </a:prstGeom>
          <a:noFill/>
          <a:ln/>
        </p:spPr>
        <p:txBody>
          <a:bodyPr wrap="square" lIns="0" tIns="0" rIns="0" bIns="0" rtlCol="0" anchor="ctr"/>
          <a:lstStyle/>
          <a:p>
            <a:pPr indent="0" marL="0">
              <a:buNone/>
            </a:pPr>
            <a:r>
              <a:rPr lang="en-US" sz="1300" b="1" dirty="0">
                <a:solidFill>
                  <a:srgbClr val="2DA44E"/>
                </a:solidFill>
                <a:latin typeface="Calibri" pitchFamily="34" charset="0"/>
                <a:ea typeface="Calibri" pitchFamily="34" charset="-122"/>
                <a:cs typeface="Calibri" pitchFamily="34" charset="-120"/>
              </a:rPr>
              <a:t>Cache  </a:t>
            </a:r>
            <a:pPr indent="0" marL="0">
              <a:buNone/>
            </a:pPr>
            <a:r>
              <a:rPr lang="en-US" sz="1300" dirty="0">
                <a:solidFill>
                  <a:srgbClr val="1F2328"/>
                </a:solidFill>
                <a:latin typeface="Calibri" pitchFamily="34" charset="0"/>
                <a:ea typeface="Calibri" pitchFamily="34" charset="-122"/>
                <a:cs typeface="Calibri" pitchFamily="34" charset="-120"/>
              </a:rPr>
              <a:t>Redis 7 (5-min TTL)</a:t>
            </a:r>
            <a:endParaRPr lang="en-US" sz="1300" dirty="0"/>
          </a:p>
        </p:txBody>
      </p:sp>
      <p:sp>
        <p:nvSpPr>
          <p:cNvPr id="9" name="Text 7"/>
          <p:cNvSpPr txBox="1"/>
          <p:nvPr/>
        </p:nvSpPr>
        <p:spPr>
          <a:xfrm>
            <a:off x="548640" y="3557016"/>
            <a:ext cx="4206240" cy="347472"/>
          </a:xfrm>
          <a:prstGeom prst="rect">
            <a:avLst/>
          </a:prstGeom>
          <a:noFill/>
          <a:ln/>
        </p:spPr>
        <p:txBody>
          <a:bodyPr wrap="square" lIns="0" tIns="0" rIns="0" bIns="0" rtlCol="0" anchor="ctr"/>
          <a:lstStyle/>
          <a:p>
            <a:pPr indent="0" marL="0">
              <a:buNone/>
            </a:pPr>
            <a:r>
              <a:rPr lang="en-US" sz="1300" b="1" dirty="0">
                <a:solidFill>
                  <a:srgbClr val="2DA44E"/>
                </a:solidFill>
                <a:latin typeface="Calibri" pitchFamily="34" charset="0"/>
                <a:ea typeface="Calibri" pitchFamily="34" charset="-122"/>
                <a:cs typeface="Calibri" pitchFamily="34" charset="-120"/>
              </a:rPr>
              <a:t>Files  </a:t>
            </a:r>
            <a:pPr indent="0" marL="0">
              <a:buNone/>
            </a:pPr>
            <a:r>
              <a:rPr lang="en-US" sz="1300" dirty="0">
                <a:solidFill>
                  <a:srgbClr val="1F2328"/>
                </a:solidFill>
                <a:latin typeface="Calibri" pitchFamily="34" charset="0"/>
                <a:ea typeface="Calibri" pitchFamily="34" charset="-122"/>
                <a:cs typeface="Calibri" pitchFamily="34" charset="-120"/>
              </a:rPr>
              <a:t>S3 storage (RustFS)</a:t>
            </a:r>
            <a:endParaRPr lang="en-US" sz="1300" dirty="0"/>
          </a:p>
        </p:txBody>
      </p:sp>
      <p:sp>
        <p:nvSpPr>
          <p:cNvPr id="10" name="Shape 8"/>
          <p:cNvSpPr/>
          <p:nvPr/>
        </p:nvSpPr>
        <p:spPr>
          <a:xfrm>
            <a:off x="796716" y="3959352"/>
            <a:ext cx="3710087" cy="2139696"/>
          </a:xfrm>
          <a:prstGeom prst="rect">
            <a:avLst/>
          </a:prstGeom>
          <a:solidFill>
            <a:srgbClr val="D0D7DE"/>
          </a:solidFill>
          <a:ln w="12700">
            <a:solidFill>
              <a:srgbClr val="D0D7DE"/>
            </a:solidFill>
            <a:prstDash val="solid"/>
          </a:ln>
        </p:spPr>
      </p:sp>
      <p:pic>
        <p:nvPicPr>
          <p:cNvPr id="11" name="Image 0" descr="image16.png">    </p:cNvPr>
          <p:cNvPicPr>
            <a:picLocks noChangeAspect="1"/>
          </p:cNvPicPr>
          <p:nvPr/>
        </p:nvPicPr>
        <p:blipFill>
          <a:blip r:embed="rId1"/>
          <a:stretch>
            <a:fillRect/>
          </a:stretch>
        </p:blipFill>
        <p:spPr>
          <a:xfrm>
            <a:off x="815004" y="3977640"/>
            <a:ext cx="3673511" cy="2103120"/>
          </a:xfrm>
          <a:prstGeom prst="rect">
            <a:avLst/>
          </a:prstGeom>
        </p:spPr>
      </p:pic>
      <p:sp>
        <p:nvSpPr>
          <p:cNvPr id="12" name="Text 9"/>
          <p:cNvSpPr txBox="1"/>
          <p:nvPr/>
        </p:nvSpPr>
        <p:spPr>
          <a:xfrm>
            <a:off x="815004" y="6144768"/>
            <a:ext cx="3673511" cy="411480"/>
          </a:xfrm>
          <a:prstGeom prst="rect">
            <a:avLst/>
          </a:prstGeom>
          <a:noFill/>
          <a:ln/>
        </p:spPr>
        <p:txBody>
          <a:bodyPr wrap="square" lIns="0" tIns="0" rIns="0" bIns="0" rtlCol="0" anchor="t"/>
          <a:lstStyle/>
          <a:p>
            <a:pPr indent="0" marL="0">
              <a:buNone/>
            </a:pPr>
            <a:r>
              <a:rPr lang="en-US" sz="1100" dirty="0">
                <a:solidFill>
                  <a:srgbClr val="57606A"/>
                </a:solidFill>
                <a:latin typeface="Calibri" pitchFamily="34" charset="0"/>
                <a:ea typeface="Calibri" pitchFamily="34" charset="-122"/>
                <a:cs typeface="Calibri" pitchFamily="34" charset="-120"/>
              </a:rPr>
              <a:t>The running app (served from Kubernetes)</a:t>
            </a:r>
            <a:endParaRPr lang="en-US" sz="1100" dirty="0"/>
          </a:p>
        </p:txBody>
      </p:sp>
      <p:sp>
        <p:nvSpPr>
          <p:cNvPr id="13" name="Shape 10"/>
          <p:cNvSpPr/>
          <p:nvPr/>
        </p:nvSpPr>
        <p:spPr>
          <a:xfrm>
            <a:off x="5056632" y="1977063"/>
            <a:ext cx="6620256" cy="3269633"/>
          </a:xfrm>
          <a:prstGeom prst="rect">
            <a:avLst/>
          </a:prstGeom>
          <a:solidFill>
            <a:srgbClr val="D0D7DE"/>
          </a:solidFill>
          <a:ln w="12700">
            <a:solidFill>
              <a:srgbClr val="D0D7DE"/>
            </a:solidFill>
            <a:prstDash val="solid"/>
          </a:ln>
        </p:spPr>
      </p:sp>
      <p:pic>
        <p:nvPicPr>
          <p:cNvPr id="14" name="Image 1" descr="architecture.png">    </p:cNvPr>
          <p:cNvPicPr>
            <a:picLocks noChangeAspect="1"/>
          </p:cNvPicPr>
          <p:nvPr/>
        </p:nvPicPr>
        <p:blipFill>
          <a:blip r:embed="rId2"/>
          <a:stretch>
            <a:fillRect/>
          </a:stretch>
        </p:blipFill>
        <p:spPr>
          <a:xfrm>
            <a:off x="5074920" y="1995351"/>
            <a:ext cx="6583680" cy="3233057"/>
          </a:xfrm>
          <a:prstGeom prst="rect">
            <a:avLst/>
          </a:prstGeom>
        </p:spPr>
      </p:pic>
      <p:sp>
        <p:nvSpPr>
          <p:cNvPr id="15" name="Text 11"/>
          <p:cNvSpPr txBox="1"/>
          <p:nvPr/>
        </p:nvSpPr>
        <p:spPr>
          <a:xfrm>
            <a:off x="5074920" y="5292417"/>
            <a:ext cx="6583680" cy="411480"/>
          </a:xfrm>
          <a:prstGeom prst="rect">
            <a:avLst/>
          </a:prstGeom>
          <a:noFill/>
          <a:ln/>
        </p:spPr>
        <p:txBody>
          <a:bodyPr wrap="square" lIns="0" tIns="0" rIns="0" bIns="0" rtlCol="0" anchor="t"/>
          <a:lstStyle/>
          <a:p>
            <a:pPr indent="0" marL="0">
              <a:buNone/>
            </a:pPr>
            <a:r>
              <a:rPr lang="en-US" sz="1100" dirty="0">
                <a:solidFill>
                  <a:srgbClr val="57606A"/>
                </a:solidFill>
                <a:latin typeface="Calibri" pitchFamily="34" charset="0"/>
                <a:ea typeface="Calibri" pitchFamily="34" charset="-122"/>
                <a:cs typeface="Calibri" pitchFamily="34" charset="-120"/>
              </a:rPr>
              <a:t>Architecture: Nginx is the only entry point; only the backend talks to the data stores. Prometheus scrapes the backend; GitHub Actions and Ansible deliver it.</a:t>
            </a:r>
            <a:endParaRPr lang="en-US" sz="1100" dirty="0"/>
          </a:p>
        </p:txBody>
      </p:sp>
      <p:sp>
        <p:nvSpPr>
          <p:cNvPr id="16" name="Text 12"/>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rgbClr val="2DA44E"/>
                </a:solidFill>
                <a:latin typeface="Calibri" pitchFamily="34" charset="0"/>
                <a:ea typeface="Calibri" pitchFamily="34" charset="-122"/>
                <a:cs typeface="Calibri" pitchFamily="34" charset="-120"/>
              </a:rPr>
              <a:t>TASK 1 · DEPLOYMENT STRATEGY · GITHUB ACTIONS</a:t>
            </a:r>
            <a:endParaRPr lang="en-US" sz="1200" dirty="0"/>
          </a:p>
        </p:txBody>
      </p:sp>
      <p:sp>
        <p:nvSpPr>
          <p:cNvPr id="3" name="Text 1"/>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1F2328"/>
                </a:solidFill>
                <a:latin typeface="Arial" pitchFamily="34" charset="0"/>
                <a:ea typeface="Arial" pitchFamily="34" charset="-122"/>
                <a:cs typeface="Arial" pitchFamily="34" charset="-120"/>
              </a:rPr>
              <a:t>Every merge: tested, packaged, deployed, verified</a:t>
            </a:r>
            <a:endParaRPr lang="en-US" sz="3000" dirty="0"/>
          </a:p>
        </p:txBody>
      </p:sp>
      <p:sp>
        <p:nvSpPr>
          <p:cNvPr id="4" name="Shape 2"/>
          <p:cNvSpPr/>
          <p:nvPr/>
        </p:nvSpPr>
        <p:spPr>
          <a:xfrm>
            <a:off x="707391" y="1261872"/>
            <a:ext cx="1602739" cy="4791456"/>
          </a:xfrm>
          <a:prstGeom prst="rect">
            <a:avLst/>
          </a:prstGeom>
          <a:solidFill>
            <a:srgbClr val="D0D7DE"/>
          </a:solidFill>
          <a:ln w="12700">
            <a:solidFill>
              <a:srgbClr val="D0D7DE"/>
            </a:solidFill>
            <a:prstDash val="solid"/>
          </a:ln>
        </p:spPr>
      </p:sp>
      <p:pic>
        <p:nvPicPr>
          <p:cNvPr id="5" name="Image 0" descr="pipeline.png">    </p:cNvPr>
          <p:cNvPicPr>
            <a:picLocks noChangeAspect="1"/>
          </p:cNvPicPr>
          <p:nvPr/>
        </p:nvPicPr>
        <p:blipFill>
          <a:blip r:embed="rId1"/>
          <a:stretch>
            <a:fillRect/>
          </a:stretch>
        </p:blipFill>
        <p:spPr>
          <a:xfrm>
            <a:off x="725679" y="1280160"/>
            <a:ext cx="1566163" cy="4754880"/>
          </a:xfrm>
          <a:prstGeom prst="rect">
            <a:avLst/>
          </a:prstGeom>
        </p:spPr>
      </p:pic>
      <p:sp>
        <p:nvSpPr>
          <p:cNvPr id="6" name="Text 3"/>
          <p:cNvSpPr txBox="1"/>
          <p:nvPr/>
        </p:nvSpPr>
        <p:spPr>
          <a:xfrm>
            <a:off x="548640" y="6108192"/>
            <a:ext cx="1920240" cy="274320"/>
          </a:xfrm>
          <a:prstGeom prst="rect">
            <a:avLst/>
          </a:prstGeom>
          <a:noFill/>
          <a:ln/>
        </p:spPr>
        <p:txBody>
          <a:bodyPr wrap="square" lIns="0" tIns="0" rIns="0" bIns="0" rtlCol="0" anchor="ctr"/>
          <a:lstStyle/>
          <a:p>
            <a:pPr algn="ctr" indent="0" marL="0">
              <a:buNone/>
            </a:pPr>
            <a:r>
              <a:rPr lang="en-US" sz="1100" dirty="0">
                <a:solidFill>
                  <a:srgbClr val="57606A"/>
                </a:solidFill>
                <a:latin typeface="Calibri" pitchFamily="34" charset="0"/>
                <a:ea typeface="Calibri" pitchFamily="34" charset="-122"/>
                <a:cs typeface="Calibri" pitchFamily="34" charset="-120"/>
              </a:rPr>
              <a:t>Pipeline diagram</a:t>
            </a:r>
            <a:endParaRPr lang="en-US" sz="1100" dirty="0"/>
          </a:p>
        </p:txBody>
      </p:sp>
      <p:sp>
        <p:nvSpPr>
          <p:cNvPr id="7" name="Shape 4"/>
          <p:cNvSpPr/>
          <p:nvPr/>
        </p:nvSpPr>
        <p:spPr>
          <a:xfrm>
            <a:off x="3124445" y="1261872"/>
            <a:ext cx="4815350" cy="2414016"/>
          </a:xfrm>
          <a:prstGeom prst="rect">
            <a:avLst/>
          </a:prstGeom>
          <a:solidFill>
            <a:srgbClr val="D0D7DE"/>
          </a:solidFill>
          <a:ln w="12700">
            <a:solidFill>
              <a:srgbClr val="D0D7DE"/>
            </a:solidFill>
            <a:prstDash val="solid"/>
          </a:ln>
        </p:spPr>
      </p:sp>
      <p:pic>
        <p:nvPicPr>
          <p:cNvPr id="8" name="Image 1" descr="image3.png">    </p:cNvPr>
          <p:cNvPicPr>
            <a:picLocks noChangeAspect="1"/>
          </p:cNvPicPr>
          <p:nvPr/>
        </p:nvPicPr>
        <p:blipFill>
          <a:blip r:embed="rId2"/>
          <a:stretch>
            <a:fillRect/>
          </a:stretch>
        </p:blipFill>
        <p:spPr>
          <a:xfrm>
            <a:off x="3142733" y="1280160"/>
            <a:ext cx="4778774" cy="2377440"/>
          </a:xfrm>
          <a:prstGeom prst="rect">
            <a:avLst/>
          </a:prstGeom>
        </p:spPr>
      </p:pic>
      <p:sp>
        <p:nvSpPr>
          <p:cNvPr id="9" name="Text 5"/>
          <p:cNvSpPr txBox="1"/>
          <p:nvPr/>
        </p:nvSpPr>
        <p:spPr>
          <a:xfrm>
            <a:off x="3142733" y="3721608"/>
            <a:ext cx="4778774" cy="411480"/>
          </a:xfrm>
          <a:prstGeom prst="rect">
            <a:avLst/>
          </a:prstGeom>
          <a:noFill/>
          <a:ln/>
        </p:spPr>
        <p:txBody>
          <a:bodyPr wrap="square" lIns="0" tIns="0" rIns="0" bIns="0" rtlCol="0" anchor="t"/>
          <a:lstStyle/>
          <a:p>
            <a:pPr indent="0" marL="0">
              <a:buNone/>
            </a:pPr>
            <a:r>
              <a:rPr lang="en-US" sz="1100" dirty="0">
                <a:solidFill>
                  <a:srgbClr val="57606A"/>
                </a:solidFill>
                <a:latin typeface="Calibri" pitchFamily="34" charset="0"/>
                <a:ea typeface="Calibri" pitchFamily="34" charset="-122"/>
                <a:cs typeface="Calibri" pitchFamily="34" charset="-120"/>
              </a:rPr>
              <a:t>Run #5 on main: all 4 jobs green in 4 min 8 s.</a:t>
            </a:r>
            <a:endParaRPr lang="en-US" sz="1100" dirty="0"/>
          </a:p>
        </p:txBody>
      </p:sp>
      <p:sp>
        <p:nvSpPr>
          <p:cNvPr id="10" name="Shape 6"/>
          <p:cNvSpPr/>
          <p:nvPr/>
        </p:nvSpPr>
        <p:spPr>
          <a:xfrm>
            <a:off x="3394238" y="4005072"/>
            <a:ext cx="4275763" cy="2139696"/>
          </a:xfrm>
          <a:prstGeom prst="rect">
            <a:avLst/>
          </a:prstGeom>
          <a:solidFill>
            <a:srgbClr val="D0D7DE"/>
          </a:solidFill>
          <a:ln w="12700">
            <a:solidFill>
              <a:srgbClr val="D0D7DE"/>
            </a:solidFill>
            <a:prstDash val="solid"/>
          </a:ln>
        </p:spPr>
      </p:sp>
      <p:pic>
        <p:nvPicPr>
          <p:cNvPr id="11" name="Image 2" descr="image1.png">    </p:cNvPr>
          <p:cNvPicPr>
            <a:picLocks noChangeAspect="1"/>
          </p:cNvPicPr>
          <p:nvPr/>
        </p:nvPicPr>
        <p:blipFill>
          <a:blip r:embed="rId3"/>
          <a:stretch>
            <a:fillRect/>
          </a:stretch>
        </p:blipFill>
        <p:spPr>
          <a:xfrm>
            <a:off x="3412526" y="4023360"/>
            <a:ext cx="4239187" cy="2103120"/>
          </a:xfrm>
          <a:prstGeom prst="rect">
            <a:avLst/>
          </a:prstGeom>
        </p:spPr>
      </p:pic>
      <p:sp>
        <p:nvSpPr>
          <p:cNvPr id="12" name="Text 7"/>
          <p:cNvSpPr txBox="1"/>
          <p:nvPr/>
        </p:nvSpPr>
        <p:spPr>
          <a:xfrm>
            <a:off x="3412526" y="6190488"/>
            <a:ext cx="4239187" cy="411480"/>
          </a:xfrm>
          <a:prstGeom prst="rect">
            <a:avLst/>
          </a:prstGeom>
          <a:noFill/>
          <a:ln/>
        </p:spPr>
        <p:txBody>
          <a:bodyPr wrap="square" lIns="0" tIns="0" rIns="0" bIns="0" rtlCol="0" anchor="t"/>
          <a:lstStyle/>
          <a:p>
            <a:pPr indent="0" marL="0">
              <a:buNone/>
            </a:pPr>
            <a:r>
              <a:rPr lang="en-US" sz="1100" dirty="0">
                <a:solidFill>
                  <a:srgbClr val="57606A"/>
                </a:solidFill>
                <a:latin typeface="Calibri" pitchFamily="34" charset="0"/>
                <a:ea typeface="Calibri" pitchFamily="34" charset="-122"/>
                <a:cs typeface="Calibri" pitchFamily="34" charset="-120"/>
              </a:rPr>
              <a:t>Pull request: CI + build pass; deploy skipped by design.</a:t>
            </a:r>
            <a:endParaRPr lang="en-US" sz="1100" dirty="0"/>
          </a:p>
        </p:txBody>
      </p:sp>
      <p:sp>
        <p:nvSpPr>
          <p:cNvPr id="13" name="Shape 8"/>
          <p:cNvSpPr/>
          <p:nvPr/>
        </p:nvSpPr>
        <p:spPr>
          <a:xfrm>
            <a:off x="8595360" y="1335024"/>
            <a:ext cx="384048" cy="384048"/>
          </a:xfrm>
          <a:prstGeom prst="ellipse">
            <a:avLst/>
          </a:prstGeom>
          <a:solidFill>
            <a:srgbClr val="2DA44E"/>
          </a:solidFill>
          <a:ln w="12700">
            <a:solidFill>
              <a:srgbClr val="2DA44E"/>
            </a:solidFill>
            <a:prstDash val="solid"/>
          </a:ln>
        </p:spPr>
      </p:sp>
      <p:sp>
        <p:nvSpPr>
          <p:cNvPr id="14" name="Text 9"/>
          <p:cNvSpPr txBox="1"/>
          <p:nvPr/>
        </p:nvSpPr>
        <p:spPr>
          <a:xfrm>
            <a:off x="8595360" y="1335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5" name="Text 10"/>
          <p:cNvSpPr txBox="1"/>
          <p:nvPr/>
        </p:nvSpPr>
        <p:spPr>
          <a:xfrm>
            <a:off x="9125712" y="1325880"/>
            <a:ext cx="2532888" cy="329184"/>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CI</a:t>
            </a:r>
            <a:endParaRPr lang="en-US" sz="1400" dirty="0"/>
          </a:p>
        </p:txBody>
      </p:sp>
      <p:sp>
        <p:nvSpPr>
          <p:cNvPr id="16" name="Text 11"/>
          <p:cNvSpPr txBox="1"/>
          <p:nvPr/>
        </p:nvSpPr>
        <p:spPr>
          <a:xfrm>
            <a:off x="9125712" y="1664208"/>
            <a:ext cx="2532888" cy="457200"/>
          </a:xfrm>
          <a:prstGeom prst="rect">
            <a:avLst/>
          </a:prstGeom>
          <a:noFill/>
          <a:ln/>
        </p:spPr>
        <p:txBody>
          <a:bodyPr wrap="square" lIns="0" tIns="0" rIns="0" bIns="0" rtlCol="0" anchor="t"/>
          <a:lstStyle/>
          <a:p>
            <a:pPr indent="0" marL="0">
              <a:buNone/>
            </a:pPr>
            <a:r>
              <a:rPr lang="en-US" sz="1200" dirty="0">
                <a:solidFill>
                  <a:srgbClr val="57606A"/>
                </a:solidFill>
                <a:latin typeface="Calibri" pitchFamily="34" charset="0"/>
                <a:ea typeface="Calibri" pitchFamily="34" charset="-122"/>
                <a:cs typeface="Calibri" pitchFamily="34" charset="-120"/>
              </a:rPr>
              <a:t>Backend + frontend tests in parallel</a:t>
            </a:r>
            <a:endParaRPr lang="en-US" sz="1200" dirty="0"/>
          </a:p>
        </p:txBody>
      </p:sp>
      <p:sp>
        <p:nvSpPr>
          <p:cNvPr id="17" name="Shape 12"/>
          <p:cNvSpPr/>
          <p:nvPr/>
        </p:nvSpPr>
        <p:spPr>
          <a:xfrm>
            <a:off x="8595360" y="2249424"/>
            <a:ext cx="384048" cy="384048"/>
          </a:xfrm>
          <a:prstGeom prst="ellipse">
            <a:avLst/>
          </a:prstGeom>
          <a:solidFill>
            <a:srgbClr val="2DA44E"/>
          </a:solidFill>
          <a:ln w="12700">
            <a:solidFill>
              <a:srgbClr val="2DA44E"/>
            </a:solidFill>
            <a:prstDash val="solid"/>
          </a:ln>
        </p:spPr>
      </p:sp>
      <p:sp>
        <p:nvSpPr>
          <p:cNvPr id="18" name="Text 13"/>
          <p:cNvSpPr txBox="1"/>
          <p:nvPr/>
        </p:nvSpPr>
        <p:spPr>
          <a:xfrm>
            <a:off x="8595360" y="2249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9" name="Text 14"/>
          <p:cNvSpPr txBox="1"/>
          <p:nvPr/>
        </p:nvSpPr>
        <p:spPr>
          <a:xfrm>
            <a:off x="9125712" y="2240280"/>
            <a:ext cx="2532888" cy="329184"/>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Package</a:t>
            </a:r>
            <a:endParaRPr lang="en-US" sz="1400" dirty="0"/>
          </a:p>
        </p:txBody>
      </p:sp>
      <p:sp>
        <p:nvSpPr>
          <p:cNvPr id="20" name="Text 15"/>
          <p:cNvSpPr txBox="1"/>
          <p:nvPr/>
        </p:nvSpPr>
        <p:spPr>
          <a:xfrm>
            <a:off x="9125712" y="2578608"/>
            <a:ext cx="2532888" cy="457200"/>
          </a:xfrm>
          <a:prstGeom prst="rect">
            <a:avLst/>
          </a:prstGeom>
          <a:noFill/>
          <a:ln/>
        </p:spPr>
        <p:txBody>
          <a:bodyPr wrap="square" lIns="0" tIns="0" rIns="0" bIns="0" rtlCol="0" anchor="t"/>
          <a:lstStyle/>
          <a:p>
            <a:pPr indent="0" marL="0">
              <a:buNone/>
            </a:pPr>
            <a:r>
              <a:rPr lang="en-US" sz="1200" dirty="0">
                <a:solidFill>
                  <a:srgbClr val="57606A"/>
                </a:solidFill>
                <a:latin typeface="Calibri" pitchFamily="34" charset="0"/>
                <a:ea typeface="Calibri" pitchFamily="34" charset="-122"/>
                <a:cs typeface="Calibri" pitchFamily="34" charset="-120"/>
              </a:rPr>
              <a:t>Images to GHCR, tagged by commit</a:t>
            </a:r>
            <a:endParaRPr lang="en-US" sz="1200" dirty="0"/>
          </a:p>
        </p:txBody>
      </p:sp>
      <p:sp>
        <p:nvSpPr>
          <p:cNvPr id="21" name="Shape 16"/>
          <p:cNvSpPr/>
          <p:nvPr/>
        </p:nvSpPr>
        <p:spPr>
          <a:xfrm>
            <a:off x="8595360" y="3163824"/>
            <a:ext cx="384048" cy="384048"/>
          </a:xfrm>
          <a:prstGeom prst="ellipse">
            <a:avLst/>
          </a:prstGeom>
          <a:solidFill>
            <a:srgbClr val="2DA44E"/>
          </a:solidFill>
          <a:ln w="12700">
            <a:solidFill>
              <a:srgbClr val="2DA44E"/>
            </a:solidFill>
            <a:prstDash val="solid"/>
          </a:ln>
        </p:spPr>
      </p:sp>
      <p:sp>
        <p:nvSpPr>
          <p:cNvPr id="22" name="Text 17"/>
          <p:cNvSpPr txBox="1"/>
          <p:nvPr/>
        </p:nvSpPr>
        <p:spPr>
          <a:xfrm>
            <a:off x="8595360" y="3163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18"/>
          <p:cNvSpPr txBox="1"/>
          <p:nvPr/>
        </p:nvSpPr>
        <p:spPr>
          <a:xfrm>
            <a:off x="9125712" y="3154680"/>
            <a:ext cx="2532888" cy="329184"/>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Deploy</a:t>
            </a:r>
            <a:endParaRPr lang="en-US" sz="1400" dirty="0"/>
          </a:p>
        </p:txBody>
      </p:sp>
      <p:sp>
        <p:nvSpPr>
          <p:cNvPr id="24" name="Text 19"/>
          <p:cNvSpPr txBox="1"/>
          <p:nvPr/>
        </p:nvSpPr>
        <p:spPr>
          <a:xfrm>
            <a:off x="9125712" y="3493008"/>
            <a:ext cx="2532888" cy="457200"/>
          </a:xfrm>
          <a:prstGeom prst="rect">
            <a:avLst/>
          </a:prstGeom>
          <a:noFill/>
          <a:ln/>
        </p:spPr>
        <p:txBody>
          <a:bodyPr wrap="square" lIns="0" tIns="0" rIns="0" bIns="0" rtlCol="0" anchor="t"/>
          <a:lstStyle/>
          <a:p>
            <a:pPr indent="0" marL="0">
              <a:buNone/>
            </a:pPr>
            <a:r>
              <a:rPr lang="en-US" sz="1200" dirty="0">
                <a:solidFill>
                  <a:srgbClr val="57606A"/>
                </a:solidFill>
                <a:latin typeface="Calibri" pitchFamily="34" charset="0"/>
                <a:ea typeface="Calibri" pitchFamily="34" charset="-122"/>
                <a:cs typeface="Calibri" pitchFamily="34" charset="-120"/>
              </a:rPr>
              <a:t>Kubernetes (kind) in the runner</a:t>
            </a:r>
            <a:endParaRPr lang="en-US" sz="1200" dirty="0"/>
          </a:p>
        </p:txBody>
      </p:sp>
      <p:sp>
        <p:nvSpPr>
          <p:cNvPr id="25" name="Shape 20"/>
          <p:cNvSpPr/>
          <p:nvPr/>
        </p:nvSpPr>
        <p:spPr>
          <a:xfrm>
            <a:off x="8595360" y="4078224"/>
            <a:ext cx="384048" cy="384048"/>
          </a:xfrm>
          <a:prstGeom prst="ellipse">
            <a:avLst/>
          </a:prstGeom>
          <a:solidFill>
            <a:srgbClr val="2DA44E"/>
          </a:solidFill>
          <a:ln w="12700">
            <a:solidFill>
              <a:srgbClr val="2DA44E"/>
            </a:solidFill>
            <a:prstDash val="solid"/>
          </a:ln>
        </p:spPr>
      </p:sp>
      <p:sp>
        <p:nvSpPr>
          <p:cNvPr id="26" name="Text 21"/>
          <p:cNvSpPr txBox="1"/>
          <p:nvPr/>
        </p:nvSpPr>
        <p:spPr>
          <a:xfrm>
            <a:off x="8595360" y="4078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7" name="Text 22"/>
          <p:cNvSpPr txBox="1"/>
          <p:nvPr/>
        </p:nvSpPr>
        <p:spPr>
          <a:xfrm>
            <a:off x="9125712" y="4069080"/>
            <a:ext cx="2532888" cy="329184"/>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Verify</a:t>
            </a:r>
            <a:endParaRPr lang="en-US" sz="1400" dirty="0"/>
          </a:p>
        </p:txBody>
      </p:sp>
      <p:sp>
        <p:nvSpPr>
          <p:cNvPr id="28" name="Text 23"/>
          <p:cNvSpPr txBox="1"/>
          <p:nvPr/>
        </p:nvSpPr>
        <p:spPr>
          <a:xfrm>
            <a:off x="9125712" y="4407408"/>
            <a:ext cx="2532888" cy="457200"/>
          </a:xfrm>
          <a:prstGeom prst="rect">
            <a:avLst/>
          </a:prstGeom>
          <a:noFill/>
          <a:ln/>
        </p:spPr>
        <p:txBody>
          <a:bodyPr wrap="square" lIns="0" tIns="0" rIns="0" bIns="0" rtlCol="0" anchor="t"/>
          <a:lstStyle/>
          <a:p>
            <a:pPr indent="0" marL="0">
              <a:buNone/>
            </a:pPr>
            <a:r>
              <a:rPr lang="en-US" sz="1200" dirty="0">
                <a:solidFill>
                  <a:srgbClr val="57606A"/>
                </a:solidFill>
                <a:latin typeface="Calibri" pitchFamily="34" charset="0"/>
                <a:ea typeface="Calibri" pitchFamily="34" charset="-122"/>
                <a:cs typeface="Calibri" pitchFamily="34" charset="-120"/>
              </a:rPr>
              <a:t>Health check retried until 200</a:t>
            </a:r>
            <a:endParaRPr lang="en-US" sz="1200" dirty="0"/>
          </a:p>
        </p:txBody>
      </p:sp>
      <p:sp>
        <p:nvSpPr>
          <p:cNvPr id="29" name="Text 24"/>
          <p:cNvSpPr txBox="1"/>
          <p:nvPr/>
        </p:nvSpPr>
        <p:spPr>
          <a:xfrm>
            <a:off x="8595360" y="5120640"/>
            <a:ext cx="3063240" cy="640080"/>
          </a:xfrm>
          <a:prstGeom prst="rect">
            <a:avLst/>
          </a:prstGeom>
          <a:noFill/>
          <a:ln/>
        </p:spPr>
        <p:txBody>
          <a:bodyPr wrap="square" lIns="0" tIns="0" rIns="0" bIns="0" rtlCol="0" anchor="t"/>
          <a:lstStyle/>
          <a:p>
            <a:pPr indent="0" marL="0">
              <a:buNone/>
            </a:pPr>
            <a:r>
              <a:rPr lang="en-US" sz="1100" i="1" dirty="0">
                <a:solidFill>
                  <a:srgbClr val="57606A"/>
                </a:solidFill>
                <a:latin typeface="Calibri" pitchFamily="34" charset="0"/>
                <a:ea typeface="Calibri" pitchFamily="34" charset="-122"/>
                <a:cs typeface="Calibri" pitchFamily="34" charset="-120"/>
              </a:rPr>
              <a:t>Files: .github/workflows/ci-cd.yml, docs/diagrams/pipeline.png</a:t>
            </a:r>
            <a:endParaRPr lang="en-US" sz="1100" dirty="0"/>
          </a:p>
        </p:txBody>
      </p:sp>
      <p:sp>
        <p:nvSpPr>
          <p:cNvPr id="30" name="Text 25"/>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rgbClr val="2DA44E"/>
                </a:solidFill>
                <a:latin typeface="Calibri" pitchFamily="34" charset="0"/>
                <a:ea typeface="Calibri" pitchFamily="34" charset="-122"/>
                <a:cs typeface="Calibri" pitchFamily="34" charset="-120"/>
              </a:rPr>
              <a:t>TASK 2 · CONFIGURATION MANAGEMENT · ANSIBLE</a:t>
            </a:r>
            <a:endParaRPr lang="en-US" sz="1200" dirty="0"/>
          </a:p>
        </p:txBody>
      </p:sp>
      <p:sp>
        <p:nvSpPr>
          <p:cNvPr id="3" name="Text 1"/>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1F2328"/>
                </a:solidFill>
                <a:latin typeface="Arial" pitchFamily="34" charset="0"/>
                <a:ea typeface="Arial" pitchFamily="34" charset="-122"/>
                <a:cs typeface="Arial" pitchFamily="34" charset="-120"/>
              </a:rPr>
              <a:t>One playbook: fresh Ubuntu to running app</a:t>
            </a:r>
            <a:endParaRPr lang="en-US" sz="3000" dirty="0"/>
          </a:p>
        </p:txBody>
      </p:sp>
      <p:sp>
        <p:nvSpPr>
          <p:cNvPr id="4" name="Text 2"/>
          <p:cNvSpPr txBox="1"/>
          <p:nvPr/>
        </p:nvSpPr>
        <p:spPr>
          <a:xfrm>
            <a:off x="548640" y="1143000"/>
            <a:ext cx="11094415" cy="347472"/>
          </a:xfrm>
          <a:prstGeom prst="rect">
            <a:avLst/>
          </a:prstGeom>
          <a:noFill/>
          <a:ln/>
        </p:spPr>
        <p:txBody>
          <a:bodyPr wrap="square" lIns="0" tIns="0" rIns="0" bIns="0" rtlCol="0" anchor="ctr"/>
          <a:lstStyle/>
          <a:p>
            <a:pPr indent="0" marL="0">
              <a:buNone/>
            </a:pPr>
            <a:r>
              <a:rPr lang="en-US" sz="1400" dirty="0">
                <a:solidFill>
                  <a:srgbClr val="57606A"/>
                </a:solidFill>
                <a:latin typeface="Calibri" pitchFamily="34" charset="0"/>
                <a:ea typeface="Calibri" pitchFamily="34" charset="-122"/>
                <a:cs typeface="Calibri" pitchFamily="34" charset="-120"/>
              </a:rPr>
              <a:t>Installs Docker and packages · creates users ctd and devops · writes .env (0600), compose file and systemd unit · verifies /api/health</a:t>
            </a:r>
            <a:endParaRPr lang="en-US" sz="1400" dirty="0"/>
          </a:p>
        </p:txBody>
      </p:sp>
      <p:sp>
        <p:nvSpPr>
          <p:cNvPr id="5" name="Shape 3"/>
          <p:cNvSpPr/>
          <p:nvPr/>
        </p:nvSpPr>
        <p:spPr>
          <a:xfrm>
            <a:off x="1686497" y="1554480"/>
            <a:ext cx="3164967" cy="2139696"/>
          </a:xfrm>
          <a:prstGeom prst="rect">
            <a:avLst/>
          </a:prstGeom>
          <a:solidFill>
            <a:srgbClr val="D0D7DE"/>
          </a:solidFill>
          <a:ln w="12700">
            <a:solidFill>
              <a:srgbClr val="D0D7DE"/>
            </a:solidFill>
            <a:prstDash val="solid"/>
          </a:ln>
        </p:spPr>
      </p:sp>
      <p:pic>
        <p:nvPicPr>
          <p:cNvPr id="6" name="Image 0" descr="image6.png">    </p:cNvPr>
          <p:cNvPicPr>
            <a:picLocks noChangeAspect="1"/>
          </p:cNvPicPr>
          <p:nvPr/>
        </p:nvPicPr>
        <p:blipFill>
          <a:blip r:embed="rId1"/>
          <a:stretch>
            <a:fillRect/>
          </a:stretch>
        </p:blipFill>
        <p:spPr>
          <a:xfrm>
            <a:off x="1704785" y="1572768"/>
            <a:ext cx="3128391" cy="2103120"/>
          </a:xfrm>
          <a:prstGeom prst="rect">
            <a:avLst/>
          </a:prstGeom>
        </p:spPr>
      </p:pic>
      <p:sp>
        <p:nvSpPr>
          <p:cNvPr id="7" name="Text 4"/>
          <p:cNvSpPr txBox="1"/>
          <p:nvPr/>
        </p:nvSpPr>
        <p:spPr>
          <a:xfrm>
            <a:off x="548640" y="3730752"/>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ansible all -m ping → pong (target: WSL Ubuntu 24.04)</a:t>
            </a:r>
            <a:endParaRPr lang="en-US" sz="1150" dirty="0"/>
          </a:p>
        </p:txBody>
      </p:sp>
      <p:sp>
        <p:nvSpPr>
          <p:cNvPr id="8" name="Shape 5"/>
          <p:cNvSpPr/>
          <p:nvPr/>
        </p:nvSpPr>
        <p:spPr>
          <a:xfrm>
            <a:off x="6897277" y="1554480"/>
            <a:ext cx="4081966" cy="2139696"/>
          </a:xfrm>
          <a:prstGeom prst="rect">
            <a:avLst/>
          </a:prstGeom>
          <a:solidFill>
            <a:srgbClr val="D0D7DE"/>
          </a:solidFill>
          <a:ln w="12700">
            <a:solidFill>
              <a:srgbClr val="D0D7DE"/>
            </a:solidFill>
            <a:prstDash val="solid"/>
          </a:ln>
        </p:spPr>
      </p:sp>
      <p:pic>
        <p:nvPicPr>
          <p:cNvPr id="9" name="Image 1" descr="image8.png">    </p:cNvPr>
          <p:cNvPicPr>
            <a:picLocks noChangeAspect="1"/>
          </p:cNvPicPr>
          <p:nvPr/>
        </p:nvPicPr>
        <p:blipFill>
          <a:blip r:embed="rId2"/>
          <a:stretch>
            <a:fillRect/>
          </a:stretch>
        </p:blipFill>
        <p:spPr>
          <a:xfrm>
            <a:off x="6915565" y="1572768"/>
            <a:ext cx="4045390" cy="2103120"/>
          </a:xfrm>
          <a:prstGeom prst="rect">
            <a:avLst/>
          </a:prstGeom>
        </p:spPr>
      </p:pic>
      <p:sp>
        <p:nvSpPr>
          <p:cNvPr id="10" name="Text 6"/>
          <p:cNvSpPr txBox="1"/>
          <p:nvPr/>
        </p:nvSpPr>
        <p:spPr>
          <a:xfrm>
            <a:off x="6217920" y="3730752"/>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First run: all services up · ok=18, changed=7, failed=0</a:t>
            </a:r>
            <a:endParaRPr lang="en-US" sz="1150" dirty="0"/>
          </a:p>
        </p:txBody>
      </p:sp>
      <p:sp>
        <p:nvSpPr>
          <p:cNvPr id="11" name="Shape 7"/>
          <p:cNvSpPr/>
          <p:nvPr/>
        </p:nvSpPr>
        <p:spPr>
          <a:xfrm>
            <a:off x="530352" y="4005072"/>
            <a:ext cx="5477256" cy="1849190"/>
          </a:xfrm>
          <a:prstGeom prst="rect">
            <a:avLst/>
          </a:prstGeom>
          <a:solidFill>
            <a:srgbClr val="D0D7DE"/>
          </a:solidFill>
          <a:ln w="12700">
            <a:solidFill>
              <a:srgbClr val="D0D7DE"/>
            </a:solidFill>
            <a:prstDash val="solid"/>
          </a:ln>
        </p:spPr>
      </p:sp>
      <p:pic>
        <p:nvPicPr>
          <p:cNvPr id="12" name="Image 2" descr="image10.png">    </p:cNvPr>
          <p:cNvPicPr>
            <a:picLocks noChangeAspect="1"/>
          </p:cNvPicPr>
          <p:nvPr/>
        </p:nvPicPr>
        <p:blipFill>
          <a:blip r:embed="rId3"/>
          <a:stretch>
            <a:fillRect/>
          </a:stretch>
        </p:blipFill>
        <p:spPr>
          <a:xfrm>
            <a:off x="548640" y="4023360"/>
            <a:ext cx="5440680" cy="1812614"/>
          </a:xfrm>
          <a:prstGeom prst="rect">
            <a:avLst/>
          </a:prstGeom>
        </p:spPr>
      </p:pic>
      <p:sp>
        <p:nvSpPr>
          <p:cNvPr id="13" name="Text 8"/>
          <p:cNvSpPr txBox="1"/>
          <p:nvPr/>
        </p:nvSpPr>
        <p:spPr>
          <a:xfrm>
            <a:off x="548640" y="5890838"/>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Second run: changed=0, so the playbook is idempotent</a:t>
            </a:r>
            <a:endParaRPr lang="en-US" sz="1150" dirty="0"/>
          </a:p>
        </p:txBody>
      </p:sp>
      <p:sp>
        <p:nvSpPr>
          <p:cNvPr id="14" name="Shape 9"/>
          <p:cNvSpPr/>
          <p:nvPr/>
        </p:nvSpPr>
        <p:spPr>
          <a:xfrm>
            <a:off x="7223621" y="4005072"/>
            <a:ext cx="3429278" cy="2139696"/>
          </a:xfrm>
          <a:prstGeom prst="rect">
            <a:avLst/>
          </a:prstGeom>
          <a:solidFill>
            <a:srgbClr val="D0D7DE"/>
          </a:solidFill>
          <a:ln w="12700">
            <a:solidFill>
              <a:srgbClr val="D0D7DE"/>
            </a:solidFill>
            <a:prstDash val="solid"/>
          </a:ln>
        </p:spPr>
      </p:sp>
      <p:pic>
        <p:nvPicPr>
          <p:cNvPr id="15" name="Image 3" descr="image11.png">    </p:cNvPr>
          <p:cNvPicPr>
            <a:picLocks noChangeAspect="1"/>
          </p:cNvPicPr>
          <p:nvPr/>
        </p:nvPicPr>
        <p:blipFill>
          <a:blip r:embed="rId4"/>
          <a:stretch>
            <a:fillRect/>
          </a:stretch>
        </p:blipFill>
        <p:spPr>
          <a:xfrm>
            <a:off x="7241909" y="4023360"/>
            <a:ext cx="3392702" cy="2103120"/>
          </a:xfrm>
          <a:prstGeom prst="rect">
            <a:avLst/>
          </a:prstGeom>
        </p:spPr>
      </p:pic>
      <p:sp>
        <p:nvSpPr>
          <p:cNvPr id="16" name="Text 10"/>
          <p:cNvSpPr txBox="1"/>
          <p:nvPr/>
        </p:nvSpPr>
        <p:spPr>
          <a:xfrm>
            <a:off x="6217920" y="6181344"/>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Verified: users, 0750 app folder, systemd service active</a:t>
            </a:r>
            <a:endParaRPr lang="en-US" sz="1150" dirty="0"/>
          </a:p>
        </p:txBody>
      </p:sp>
      <p:sp>
        <p:nvSpPr>
          <p:cNvPr id="17" name="Text 11"/>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rgbClr val="2DA44E"/>
                </a:solidFill>
                <a:latin typeface="Calibri" pitchFamily="34" charset="0"/>
                <a:ea typeface="Calibri" pitchFamily="34" charset="-122"/>
                <a:cs typeface="Calibri" pitchFamily="34" charset="-120"/>
              </a:rPr>
              <a:t>TASK 3 · CONTAINERIZATION &amp; ORCHESTRATION · DOCKER + KUBERNETES</a:t>
            </a:r>
            <a:endParaRPr lang="en-US" sz="1200" dirty="0"/>
          </a:p>
        </p:txBody>
      </p:sp>
      <p:sp>
        <p:nvSpPr>
          <p:cNvPr id="3" name="Text 1"/>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1F2328"/>
                </a:solidFill>
                <a:latin typeface="Arial" pitchFamily="34" charset="0"/>
                <a:ea typeface="Arial" pitchFamily="34" charset="-122"/>
                <a:cs typeface="Arial" pitchFamily="34" charset="-120"/>
              </a:rPr>
              <a:t>Zero-downtime rolling update, one-command rollback</a:t>
            </a:r>
            <a:endParaRPr lang="en-US" sz="3000" dirty="0"/>
          </a:p>
        </p:txBody>
      </p:sp>
      <p:sp>
        <p:nvSpPr>
          <p:cNvPr id="4" name="Text 2"/>
          <p:cNvSpPr txBox="1"/>
          <p:nvPr/>
        </p:nvSpPr>
        <p:spPr>
          <a:xfrm>
            <a:off x="548640" y="1143000"/>
            <a:ext cx="11094415" cy="347472"/>
          </a:xfrm>
          <a:prstGeom prst="rect">
            <a:avLst/>
          </a:prstGeom>
          <a:noFill/>
          <a:ln/>
        </p:spPr>
        <p:txBody>
          <a:bodyPr wrap="square" lIns="0" tIns="0" rIns="0" bIns="0" rtlCol="0" anchor="ctr"/>
          <a:lstStyle/>
          <a:p>
            <a:pPr indent="0" marL="0">
              <a:buNone/>
            </a:pPr>
            <a:r>
              <a:rPr lang="en-US" sz="1400" dirty="0">
                <a:solidFill>
                  <a:srgbClr val="57606A"/>
                </a:solidFill>
                <a:latin typeface="Calibri" pitchFamily="34" charset="0"/>
                <a:ea typeface="Calibri" pitchFamily="34" charset="-122"/>
                <a:cs typeface="Calibri" pitchFamily="34" charset="-120"/>
              </a:rPr>
              <a:t>Multi-stage Dockerfiles · 3 replicas · maxSurge 1, maxUnavailable 0 · readiness, liveness and startup probes · YAMLs in k8s/</a:t>
            </a:r>
            <a:endParaRPr lang="en-US" sz="1400" dirty="0"/>
          </a:p>
        </p:txBody>
      </p:sp>
      <p:sp>
        <p:nvSpPr>
          <p:cNvPr id="5" name="Shape 3"/>
          <p:cNvSpPr/>
          <p:nvPr/>
        </p:nvSpPr>
        <p:spPr>
          <a:xfrm>
            <a:off x="1947549" y="1554480"/>
            <a:ext cx="2642862" cy="2139696"/>
          </a:xfrm>
          <a:prstGeom prst="rect">
            <a:avLst/>
          </a:prstGeom>
          <a:solidFill>
            <a:srgbClr val="D0D7DE"/>
          </a:solidFill>
          <a:ln w="12700">
            <a:solidFill>
              <a:srgbClr val="D0D7DE"/>
            </a:solidFill>
            <a:prstDash val="solid"/>
          </a:ln>
        </p:spPr>
      </p:sp>
      <p:pic>
        <p:nvPicPr>
          <p:cNvPr id="6" name="Image 0" descr="image12.png">    </p:cNvPr>
          <p:cNvPicPr>
            <a:picLocks noChangeAspect="1"/>
          </p:cNvPicPr>
          <p:nvPr/>
        </p:nvPicPr>
        <p:blipFill>
          <a:blip r:embed="rId1"/>
          <a:stretch>
            <a:fillRect/>
          </a:stretch>
        </p:blipFill>
        <p:spPr>
          <a:xfrm>
            <a:off x="1965837" y="1572768"/>
            <a:ext cx="2606286" cy="2103120"/>
          </a:xfrm>
          <a:prstGeom prst="rect">
            <a:avLst/>
          </a:prstGeom>
        </p:spPr>
      </p:pic>
      <p:sp>
        <p:nvSpPr>
          <p:cNvPr id="7" name="Text 4"/>
          <p:cNvSpPr txBox="1"/>
          <p:nvPr/>
        </p:nvSpPr>
        <p:spPr>
          <a:xfrm>
            <a:off x="548640" y="3730752"/>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v1 deployed: 3 backend replicas, all pods Running</a:t>
            </a:r>
            <a:endParaRPr lang="en-US" sz="1150" dirty="0"/>
          </a:p>
        </p:txBody>
      </p:sp>
      <p:sp>
        <p:nvSpPr>
          <p:cNvPr id="8" name="Shape 5"/>
          <p:cNvSpPr/>
          <p:nvPr/>
        </p:nvSpPr>
        <p:spPr>
          <a:xfrm>
            <a:off x="7064894" y="1554480"/>
            <a:ext cx="3746731" cy="2139696"/>
          </a:xfrm>
          <a:prstGeom prst="rect">
            <a:avLst/>
          </a:prstGeom>
          <a:solidFill>
            <a:srgbClr val="D0D7DE"/>
          </a:solidFill>
          <a:ln w="12700">
            <a:solidFill>
              <a:srgbClr val="D0D7DE"/>
            </a:solidFill>
            <a:prstDash val="solid"/>
          </a:ln>
        </p:spPr>
      </p:sp>
      <p:pic>
        <p:nvPicPr>
          <p:cNvPr id="9" name="Image 1" descr="image14.png">    </p:cNvPr>
          <p:cNvPicPr>
            <a:picLocks noChangeAspect="1"/>
          </p:cNvPicPr>
          <p:nvPr/>
        </p:nvPicPr>
        <p:blipFill>
          <a:blip r:embed="rId2"/>
          <a:stretch>
            <a:fillRect/>
          </a:stretch>
        </p:blipFill>
        <p:spPr>
          <a:xfrm>
            <a:off x="7083182" y="1572768"/>
            <a:ext cx="3710155" cy="2103120"/>
          </a:xfrm>
          <a:prstGeom prst="rect">
            <a:avLst/>
          </a:prstGeom>
        </p:spPr>
      </p:pic>
      <p:sp>
        <p:nvSpPr>
          <p:cNvPr id="10" name="Text 6"/>
          <p:cNvSpPr txBox="1"/>
          <p:nvPr/>
        </p:nvSpPr>
        <p:spPr>
          <a:xfrm>
            <a:off x="6217920" y="3730752"/>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v1 → v2 with only HTTP 200; broken v3 stuck, v2 keeps serving</a:t>
            </a:r>
            <a:endParaRPr lang="en-US" sz="1150" dirty="0"/>
          </a:p>
        </p:txBody>
      </p:sp>
      <p:sp>
        <p:nvSpPr>
          <p:cNvPr id="11" name="Shape 7"/>
          <p:cNvSpPr/>
          <p:nvPr/>
        </p:nvSpPr>
        <p:spPr>
          <a:xfrm>
            <a:off x="1842078" y="4005072"/>
            <a:ext cx="2853805" cy="2139696"/>
          </a:xfrm>
          <a:prstGeom prst="rect">
            <a:avLst/>
          </a:prstGeom>
          <a:solidFill>
            <a:srgbClr val="D0D7DE"/>
          </a:solidFill>
          <a:ln w="12700">
            <a:solidFill>
              <a:srgbClr val="D0D7DE"/>
            </a:solidFill>
            <a:prstDash val="solid"/>
          </a:ln>
        </p:spPr>
      </p:sp>
      <p:pic>
        <p:nvPicPr>
          <p:cNvPr id="12" name="Image 2" descr="image15.png">    </p:cNvPr>
          <p:cNvPicPr>
            <a:picLocks noChangeAspect="1"/>
          </p:cNvPicPr>
          <p:nvPr/>
        </p:nvPicPr>
        <p:blipFill>
          <a:blip r:embed="rId3"/>
          <a:stretch>
            <a:fillRect/>
          </a:stretch>
        </p:blipFill>
        <p:spPr>
          <a:xfrm>
            <a:off x="1860366" y="4023360"/>
            <a:ext cx="2817229" cy="2103120"/>
          </a:xfrm>
          <a:prstGeom prst="rect">
            <a:avLst/>
          </a:prstGeom>
        </p:spPr>
      </p:pic>
      <p:sp>
        <p:nvSpPr>
          <p:cNvPr id="13" name="Text 8"/>
          <p:cNvSpPr txBox="1"/>
          <p:nvPr/>
        </p:nvSpPr>
        <p:spPr>
          <a:xfrm>
            <a:off x="548640" y="6181344"/>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kubectl rollout undo: back to healthy v2 in seconds</a:t>
            </a:r>
            <a:endParaRPr lang="en-US" sz="1150" dirty="0"/>
          </a:p>
        </p:txBody>
      </p:sp>
      <p:sp>
        <p:nvSpPr>
          <p:cNvPr id="14" name="Shape 9"/>
          <p:cNvSpPr/>
          <p:nvPr/>
        </p:nvSpPr>
        <p:spPr>
          <a:xfrm>
            <a:off x="7083216" y="4005072"/>
            <a:ext cx="3710087" cy="2139696"/>
          </a:xfrm>
          <a:prstGeom prst="rect">
            <a:avLst/>
          </a:prstGeom>
          <a:solidFill>
            <a:srgbClr val="D0D7DE"/>
          </a:solidFill>
          <a:ln w="12700">
            <a:solidFill>
              <a:srgbClr val="D0D7DE"/>
            </a:solidFill>
            <a:prstDash val="solid"/>
          </a:ln>
        </p:spPr>
      </p:sp>
      <p:pic>
        <p:nvPicPr>
          <p:cNvPr id="15" name="Image 3" descr="image16.png">    </p:cNvPr>
          <p:cNvPicPr>
            <a:picLocks noChangeAspect="1"/>
          </p:cNvPicPr>
          <p:nvPr/>
        </p:nvPicPr>
        <p:blipFill>
          <a:blip r:embed="rId4"/>
          <a:stretch>
            <a:fillRect/>
          </a:stretch>
        </p:blipFill>
        <p:spPr>
          <a:xfrm>
            <a:off x="7101504" y="4023360"/>
            <a:ext cx="3673511" cy="2103120"/>
          </a:xfrm>
          <a:prstGeom prst="rect">
            <a:avLst/>
          </a:prstGeom>
        </p:spPr>
      </p:pic>
      <p:sp>
        <p:nvSpPr>
          <p:cNvPr id="16" name="Text 10"/>
          <p:cNvSpPr txBox="1"/>
          <p:nvPr/>
        </p:nvSpPr>
        <p:spPr>
          <a:xfrm>
            <a:off x="6217920" y="6181344"/>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The app running on Kubernetes at localhost:30080</a:t>
            </a:r>
            <a:endParaRPr lang="en-US" sz="1150" dirty="0"/>
          </a:p>
        </p:txBody>
      </p:sp>
      <p:sp>
        <p:nvSpPr>
          <p:cNvPr id="17" name="Text 11"/>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rgbClr val="2DA44E"/>
                </a:solidFill>
                <a:latin typeface="Calibri" pitchFamily="34" charset="0"/>
                <a:ea typeface="Calibri" pitchFamily="34" charset="-122"/>
                <a:cs typeface="Calibri" pitchFamily="34" charset="-120"/>
              </a:rPr>
              <a:t>TASK 4 · MONITORING &amp; LOGGING · PROMETHEUS + GRAFANA</a:t>
            </a:r>
            <a:endParaRPr lang="en-US" sz="1200" dirty="0"/>
          </a:p>
        </p:txBody>
      </p:sp>
      <p:sp>
        <p:nvSpPr>
          <p:cNvPr id="3" name="Text 1"/>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1F2328"/>
                </a:solidFill>
                <a:latin typeface="Arial" pitchFamily="34" charset="0"/>
                <a:ea typeface="Arial" pitchFamily="34" charset="-122"/>
                <a:cs typeface="Arial" pitchFamily="34" charset="-120"/>
              </a:rPr>
              <a:t>Uptime, latency and error rate, and an outage caught live</a:t>
            </a:r>
            <a:endParaRPr lang="en-US" sz="3000" dirty="0"/>
          </a:p>
        </p:txBody>
      </p:sp>
      <p:sp>
        <p:nvSpPr>
          <p:cNvPr id="4" name="Text 2"/>
          <p:cNvSpPr txBox="1"/>
          <p:nvPr/>
        </p:nvSpPr>
        <p:spPr>
          <a:xfrm>
            <a:off x="548640" y="1143000"/>
            <a:ext cx="11094415" cy="347472"/>
          </a:xfrm>
          <a:prstGeom prst="rect">
            <a:avLst/>
          </a:prstGeom>
          <a:noFill/>
          <a:ln/>
        </p:spPr>
        <p:txBody>
          <a:bodyPr wrap="square" lIns="0" tIns="0" rIns="0" bIns="0" rtlCol="0" anchor="ctr"/>
          <a:lstStyle/>
          <a:p>
            <a:pPr indent="0" marL="0">
              <a:buNone/>
            </a:pPr>
            <a:r>
              <a:rPr lang="en-US" sz="1400" dirty="0">
                <a:solidFill>
                  <a:srgbClr val="57606A"/>
                </a:solidFill>
                <a:latin typeface="Calibri" pitchFamily="34" charset="0"/>
                <a:ea typeface="Calibri" pitchFamily="34" charset="-122"/>
                <a:cs typeface="Calibri" pitchFamily="34" charset="-120"/>
              </a:rPr>
              <a:t>Actuator + Micrometer expose /actuator/prometheus · scraped every 15 s · 10-panel Grafana dashboard · 3 alert rules</a:t>
            </a:r>
            <a:endParaRPr lang="en-US" sz="1400" dirty="0"/>
          </a:p>
        </p:txBody>
      </p:sp>
      <p:sp>
        <p:nvSpPr>
          <p:cNvPr id="5" name="Shape 3"/>
          <p:cNvSpPr/>
          <p:nvPr/>
        </p:nvSpPr>
        <p:spPr>
          <a:xfrm>
            <a:off x="1215483" y="1554480"/>
            <a:ext cx="4106994" cy="2139696"/>
          </a:xfrm>
          <a:prstGeom prst="rect">
            <a:avLst/>
          </a:prstGeom>
          <a:solidFill>
            <a:srgbClr val="D0D7DE"/>
          </a:solidFill>
          <a:ln w="12700">
            <a:solidFill>
              <a:srgbClr val="D0D7DE"/>
            </a:solidFill>
            <a:prstDash val="solid"/>
          </a:ln>
        </p:spPr>
      </p:sp>
      <p:pic>
        <p:nvPicPr>
          <p:cNvPr id="6" name="Image 0" descr="image17.png">    </p:cNvPr>
          <p:cNvPicPr>
            <a:picLocks noChangeAspect="1"/>
          </p:cNvPicPr>
          <p:nvPr/>
        </p:nvPicPr>
        <p:blipFill>
          <a:blip r:embed="rId1"/>
          <a:stretch>
            <a:fillRect/>
          </a:stretch>
        </p:blipFill>
        <p:spPr>
          <a:xfrm>
            <a:off x="1233771" y="1572768"/>
            <a:ext cx="4070418" cy="2103120"/>
          </a:xfrm>
          <a:prstGeom prst="rect">
            <a:avLst/>
          </a:prstGeom>
        </p:spPr>
      </p:pic>
      <p:sp>
        <p:nvSpPr>
          <p:cNvPr id="7" name="Text 4"/>
          <p:cNvSpPr txBox="1"/>
          <p:nvPr/>
        </p:nvSpPr>
        <p:spPr>
          <a:xfrm>
            <a:off x="548640" y="3730752"/>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Prometheus: backend target UP</a:t>
            </a:r>
            <a:endParaRPr lang="en-US" sz="1150" dirty="0"/>
          </a:p>
        </p:txBody>
      </p:sp>
      <p:sp>
        <p:nvSpPr>
          <p:cNvPr id="8" name="Shape 5"/>
          <p:cNvSpPr/>
          <p:nvPr/>
        </p:nvSpPr>
        <p:spPr>
          <a:xfrm>
            <a:off x="6904131" y="1554480"/>
            <a:ext cx="4068257" cy="2139696"/>
          </a:xfrm>
          <a:prstGeom prst="rect">
            <a:avLst/>
          </a:prstGeom>
          <a:solidFill>
            <a:srgbClr val="D0D7DE"/>
          </a:solidFill>
          <a:ln w="12700">
            <a:solidFill>
              <a:srgbClr val="D0D7DE"/>
            </a:solidFill>
            <a:prstDash val="solid"/>
          </a:ln>
        </p:spPr>
      </p:sp>
      <p:pic>
        <p:nvPicPr>
          <p:cNvPr id="9" name="Image 1" descr="image19.png">    </p:cNvPr>
          <p:cNvPicPr>
            <a:picLocks noChangeAspect="1"/>
          </p:cNvPicPr>
          <p:nvPr/>
        </p:nvPicPr>
        <p:blipFill>
          <a:blip r:embed="rId2"/>
          <a:stretch>
            <a:fillRect/>
          </a:stretch>
        </p:blipFill>
        <p:spPr>
          <a:xfrm>
            <a:off x="6922419" y="1572768"/>
            <a:ext cx="4031681" cy="2103120"/>
          </a:xfrm>
          <a:prstGeom prst="rect">
            <a:avLst/>
          </a:prstGeom>
        </p:spPr>
      </p:pic>
      <p:sp>
        <p:nvSpPr>
          <p:cNvPr id="10" name="Text 6"/>
          <p:cNvSpPr txBox="1"/>
          <p:nvPr/>
        </p:nvSpPr>
        <p:spPr>
          <a:xfrm>
            <a:off x="6217920" y="3730752"/>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Grafana baseline: UP, 100% availability, 0% 5xx</a:t>
            </a:r>
            <a:endParaRPr lang="en-US" sz="1150" dirty="0"/>
          </a:p>
        </p:txBody>
      </p:sp>
      <p:sp>
        <p:nvSpPr>
          <p:cNvPr id="11" name="Shape 7"/>
          <p:cNvSpPr/>
          <p:nvPr/>
        </p:nvSpPr>
        <p:spPr>
          <a:xfrm>
            <a:off x="1245829" y="4005072"/>
            <a:ext cx="4046302" cy="2139696"/>
          </a:xfrm>
          <a:prstGeom prst="rect">
            <a:avLst/>
          </a:prstGeom>
          <a:solidFill>
            <a:srgbClr val="D0D7DE"/>
          </a:solidFill>
          <a:ln w="12700">
            <a:solidFill>
              <a:srgbClr val="D0D7DE"/>
            </a:solidFill>
            <a:prstDash val="solid"/>
          </a:ln>
        </p:spPr>
      </p:sp>
      <p:pic>
        <p:nvPicPr>
          <p:cNvPr id="12" name="Image 2" descr="image18.png">    </p:cNvPr>
          <p:cNvPicPr>
            <a:picLocks noChangeAspect="1"/>
          </p:cNvPicPr>
          <p:nvPr/>
        </p:nvPicPr>
        <p:blipFill>
          <a:blip r:embed="rId3"/>
          <a:stretch>
            <a:fillRect/>
          </a:stretch>
        </p:blipFill>
        <p:spPr>
          <a:xfrm>
            <a:off x="1264117" y="4023360"/>
            <a:ext cx="4009726" cy="2103120"/>
          </a:xfrm>
          <a:prstGeom prst="rect">
            <a:avLst/>
          </a:prstGeom>
        </p:spPr>
      </p:pic>
      <p:sp>
        <p:nvSpPr>
          <p:cNvPr id="13" name="Text 8"/>
          <p:cNvSpPr txBox="1"/>
          <p:nvPr/>
        </p:nvSpPr>
        <p:spPr>
          <a:xfrm>
            <a:off x="548640" y="6181344"/>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Redis stopped: HighErrorRate and HighLatencyP95 alerts Pending</a:t>
            </a:r>
            <a:endParaRPr lang="en-US" sz="1150" dirty="0"/>
          </a:p>
        </p:txBody>
      </p:sp>
      <p:sp>
        <p:nvSpPr>
          <p:cNvPr id="14" name="Shape 9"/>
          <p:cNvSpPr/>
          <p:nvPr/>
        </p:nvSpPr>
        <p:spPr>
          <a:xfrm>
            <a:off x="6885177" y="4005072"/>
            <a:ext cx="4106167" cy="2139696"/>
          </a:xfrm>
          <a:prstGeom prst="rect">
            <a:avLst/>
          </a:prstGeom>
          <a:solidFill>
            <a:srgbClr val="D0D7DE"/>
          </a:solidFill>
          <a:ln w="12700">
            <a:solidFill>
              <a:srgbClr val="D0D7DE"/>
            </a:solidFill>
            <a:prstDash val="solid"/>
          </a:ln>
        </p:spPr>
      </p:sp>
      <p:pic>
        <p:nvPicPr>
          <p:cNvPr id="15" name="Image 3" descr="image21.png">    </p:cNvPr>
          <p:cNvPicPr>
            <a:picLocks noChangeAspect="1"/>
          </p:cNvPicPr>
          <p:nvPr/>
        </p:nvPicPr>
        <p:blipFill>
          <a:blip r:embed="rId4"/>
          <a:stretch>
            <a:fillRect/>
          </a:stretch>
        </p:blipFill>
        <p:spPr>
          <a:xfrm>
            <a:off x="6903465" y="4023360"/>
            <a:ext cx="4069591" cy="2103120"/>
          </a:xfrm>
          <a:prstGeom prst="rect">
            <a:avLst/>
          </a:prstGeom>
        </p:spPr>
      </p:pic>
      <p:sp>
        <p:nvSpPr>
          <p:cNvPr id="16" name="Text 10"/>
          <p:cNvSpPr txBox="1"/>
          <p:nvPr/>
        </p:nvSpPr>
        <p:spPr>
          <a:xfrm>
            <a:off x="6217920" y="6181344"/>
            <a:ext cx="5440680" cy="292608"/>
          </a:xfrm>
          <a:prstGeom prst="rect">
            <a:avLst/>
          </a:prstGeom>
          <a:noFill/>
          <a:ln/>
        </p:spPr>
        <p:txBody>
          <a:bodyPr wrap="square" lIns="0" tIns="0" rIns="0" bIns="0" rtlCol="0" anchor="t"/>
          <a:lstStyle/>
          <a:p>
            <a:pPr algn="ctr" indent="0" marL="0">
              <a:buNone/>
            </a:pPr>
            <a:r>
              <a:rPr lang="en-US" sz="1150" dirty="0">
                <a:solidFill>
                  <a:srgbClr val="57606A"/>
                </a:solidFill>
                <a:latin typeface="Calibri" pitchFamily="34" charset="0"/>
                <a:ea typeface="Calibri" pitchFamily="34" charset="-122"/>
                <a:cs typeface="Calibri" pitchFamily="34" charset="-120"/>
              </a:rPr>
              <a:t>Grafana: 5xx error rate jumps to 7.73%, latency ~30 s</a:t>
            </a:r>
            <a:endParaRPr lang="en-US" sz="1150" dirty="0"/>
          </a:p>
        </p:txBody>
      </p:sp>
      <p:sp>
        <p:nvSpPr>
          <p:cNvPr id="17" name="Text 11"/>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rgbClr val="BF8700"/>
                </a:solidFill>
                <a:latin typeface="Calibri" pitchFamily="34" charset="0"/>
                <a:ea typeface="Calibri" pitchFamily="34" charset="-122"/>
                <a:cs typeface="Calibri" pitchFamily="34" charset="-120"/>
              </a:rPr>
              <a:t>TASK 5 · CHALLENGES</a:t>
            </a:r>
            <a:endParaRPr lang="en-US" sz="1200" dirty="0"/>
          </a:p>
        </p:txBody>
      </p:sp>
      <p:sp>
        <p:nvSpPr>
          <p:cNvPr id="3" name="Text 1"/>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1F2328"/>
                </a:solidFill>
                <a:latin typeface="Arial" pitchFamily="34" charset="0"/>
                <a:ea typeface="Arial" pitchFamily="34" charset="-122"/>
                <a:cs typeface="Arial" pitchFamily="34" charset="-120"/>
              </a:rPr>
              <a:t>Six real problems, each caught by the system and fixed</a:t>
            </a:r>
            <a:endParaRPr lang="en-US" sz="3000" dirty="0"/>
          </a:p>
        </p:txBody>
      </p:sp>
      <p:sp>
        <p:nvSpPr>
          <p:cNvPr id="4" name="Shape 2"/>
          <p:cNvSpPr/>
          <p:nvPr/>
        </p:nvSpPr>
        <p:spPr>
          <a:xfrm>
            <a:off x="548640" y="1371600"/>
            <a:ext cx="3611880" cy="2240280"/>
          </a:xfrm>
          <a:prstGeom prst="rect">
            <a:avLst/>
          </a:prstGeom>
          <a:solidFill>
            <a:srgbClr val="F6F8FA"/>
          </a:solidFill>
          <a:ln w="9525">
            <a:solidFill>
              <a:srgbClr val="D0D7DE"/>
            </a:solidFill>
            <a:prstDash val="solid"/>
          </a:ln>
        </p:spPr>
      </p:sp>
      <p:sp>
        <p:nvSpPr>
          <p:cNvPr id="5" name="Shape 3"/>
          <p:cNvSpPr/>
          <p:nvPr/>
        </p:nvSpPr>
        <p:spPr>
          <a:xfrm>
            <a:off x="749808" y="1600200"/>
            <a:ext cx="420624" cy="420624"/>
          </a:xfrm>
          <a:prstGeom prst="ellipse">
            <a:avLst/>
          </a:prstGeom>
          <a:solidFill>
            <a:srgbClr val="BF8700"/>
          </a:solidFill>
          <a:ln w="12700">
            <a:solidFill>
              <a:srgbClr val="BF8700"/>
            </a:solidFill>
            <a:prstDash val="solid"/>
          </a:ln>
        </p:spPr>
      </p:sp>
      <p:sp>
        <p:nvSpPr>
          <p:cNvPr id="6" name="Text 4"/>
          <p:cNvSpPr txBox="1"/>
          <p:nvPr/>
        </p:nvSpPr>
        <p:spPr>
          <a:xfrm>
            <a:off x="749808"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325880" y="1554480"/>
            <a:ext cx="2651760" cy="512064"/>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MinIO images deleted upstream</a:t>
            </a:r>
            <a:endParaRPr lang="en-US" sz="1600" dirty="0"/>
          </a:p>
        </p:txBody>
      </p:sp>
      <p:sp>
        <p:nvSpPr>
          <p:cNvPr id="8" name="Text 6"/>
          <p:cNvSpPr txBox="1"/>
          <p:nvPr/>
        </p:nvSpPr>
        <p:spPr>
          <a:xfrm>
            <a:off x="749808" y="2240280"/>
            <a:ext cx="3209544" cy="1188720"/>
          </a:xfrm>
          <a:prstGeom prst="rect">
            <a:avLst/>
          </a:prstGeom>
          <a:noFill/>
          <a:ln/>
        </p:spPr>
        <p:txBody>
          <a:bodyPr wrap="square" lIns="0" tIns="0" rIns="0" bIns="0" rtlCol="0" anchor="t"/>
          <a:lstStyle/>
          <a:p>
            <a:pPr indent="0" marL="0">
              <a:spcAft>
                <a:spcPts val="600"/>
              </a:spcAft>
              <a:buNone/>
            </a:pPr>
            <a:r>
              <a:rPr lang="en-US" sz="1450" dirty="0">
                <a:solidFill>
                  <a:srgbClr val="57606A"/>
                </a:solidFill>
                <a:latin typeface="Calibri" pitchFamily="34" charset="0"/>
                <a:ea typeface="Calibri" pitchFamily="34" charset="-122"/>
                <a:cs typeface="Calibri" pitchFamily="34" charset="-120"/>
              </a:rPr>
              <a:t>Deploy timed out; pull access denied.</a:t>
            </a:r>
            <a:endParaRPr lang="en-US" sz="1450" dirty="0"/>
          </a:p>
          <a:p>
            <a:pPr indent="0" marL="0">
              <a:spcAft>
                <a:spcPts val="600"/>
              </a:spcAft>
              <a:buNone/>
            </a:pPr>
            <a:r>
              <a:rPr lang="en-US" sz="1450" b="1" dirty="0">
                <a:solidFill>
                  <a:srgbClr val="2DA44E"/>
                </a:solidFill>
                <a:latin typeface="Calibri" pitchFamily="34" charset="0"/>
                <a:ea typeface="Calibri" pitchFamily="34" charset="-122"/>
                <a:cs typeface="Calibri" pitchFamily="34" charset="-120"/>
              </a:rPr>
              <a:t>Fix: </a:t>
            </a:r>
            <a:pPr indent="0" marL="0">
              <a:spcAft>
                <a:spcPts val="600"/>
              </a:spcAft>
              <a:buNone/>
            </a:pPr>
            <a:r>
              <a:rPr lang="en-US" sz="1450" dirty="0">
                <a:solidFill>
                  <a:srgbClr val="1F2328"/>
                </a:solidFill>
                <a:latin typeface="Calibri" pitchFamily="34" charset="0"/>
                <a:ea typeface="Calibri" pitchFamily="34" charset="-122"/>
                <a:cs typeface="Calibri" pitchFamily="34" charset="-120"/>
              </a:rPr>
              <a:t>RustFS, same S3 API, no code change.</a:t>
            </a:r>
            <a:endParaRPr lang="en-US" sz="1450" dirty="0"/>
          </a:p>
        </p:txBody>
      </p:sp>
      <p:sp>
        <p:nvSpPr>
          <p:cNvPr id="9" name="Shape 7"/>
          <p:cNvSpPr/>
          <p:nvPr/>
        </p:nvSpPr>
        <p:spPr>
          <a:xfrm>
            <a:off x="4297680" y="1371600"/>
            <a:ext cx="3611880" cy="2240280"/>
          </a:xfrm>
          <a:prstGeom prst="rect">
            <a:avLst/>
          </a:prstGeom>
          <a:solidFill>
            <a:srgbClr val="F6F8FA"/>
          </a:solidFill>
          <a:ln w="9525">
            <a:solidFill>
              <a:srgbClr val="D0D7DE"/>
            </a:solidFill>
            <a:prstDash val="solid"/>
          </a:ln>
        </p:spPr>
      </p:sp>
      <p:sp>
        <p:nvSpPr>
          <p:cNvPr id="10" name="Shape 8"/>
          <p:cNvSpPr/>
          <p:nvPr/>
        </p:nvSpPr>
        <p:spPr>
          <a:xfrm>
            <a:off x="4498848" y="1600200"/>
            <a:ext cx="420624" cy="420624"/>
          </a:xfrm>
          <a:prstGeom prst="ellipse">
            <a:avLst/>
          </a:prstGeom>
          <a:solidFill>
            <a:srgbClr val="BF8700"/>
          </a:solidFill>
          <a:ln w="12700">
            <a:solidFill>
              <a:srgbClr val="BF8700"/>
            </a:solidFill>
            <a:prstDash val="solid"/>
          </a:ln>
        </p:spPr>
      </p:sp>
      <p:sp>
        <p:nvSpPr>
          <p:cNvPr id="11" name="Text 9"/>
          <p:cNvSpPr txBox="1"/>
          <p:nvPr/>
        </p:nvSpPr>
        <p:spPr>
          <a:xfrm>
            <a:off x="4498848"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5074920" y="1554480"/>
            <a:ext cx="2651760" cy="512064"/>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Smoke-test race (HTTP 503)</a:t>
            </a:r>
            <a:endParaRPr lang="en-US" sz="1600" dirty="0"/>
          </a:p>
        </p:txBody>
      </p:sp>
      <p:sp>
        <p:nvSpPr>
          <p:cNvPr id="13" name="Text 11"/>
          <p:cNvSpPr txBox="1"/>
          <p:nvPr/>
        </p:nvSpPr>
        <p:spPr>
          <a:xfrm>
            <a:off x="4498848" y="2240280"/>
            <a:ext cx="3209544" cy="1188720"/>
          </a:xfrm>
          <a:prstGeom prst="rect">
            <a:avLst/>
          </a:prstGeom>
          <a:noFill/>
          <a:ln/>
        </p:spPr>
        <p:txBody>
          <a:bodyPr wrap="square" lIns="0" tIns="0" rIns="0" bIns="0" rtlCol="0" anchor="t"/>
          <a:lstStyle/>
          <a:p>
            <a:pPr indent="0" marL="0">
              <a:spcAft>
                <a:spcPts val="600"/>
              </a:spcAft>
              <a:buNone/>
            </a:pPr>
            <a:r>
              <a:rPr lang="en-US" sz="1450" dirty="0">
                <a:solidFill>
                  <a:srgbClr val="57606A"/>
                </a:solidFill>
                <a:latin typeface="Calibri" pitchFamily="34" charset="0"/>
                <a:ea typeface="Calibri" pitchFamily="34" charset="-122"/>
                <a:cs typeface="Calibri" pitchFamily="34" charset="-120"/>
              </a:rPr>
              <a:t>Health checked before storage was up.</a:t>
            </a:r>
            <a:endParaRPr lang="en-US" sz="1450" dirty="0"/>
          </a:p>
          <a:p>
            <a:pPr indent="0" marL="0">
              <a:spcAft>
                <a:spcPts val="600"/>
              </a:spcAft>
              <a:buNone/>
            </a:pPr>
            <a:r>
              <a:rPr lang="en-US" sz="1450" b="1" dirty="0">
                <a:solidFill>
                  <a:srgbClr val="2DA44E"/>
                </a:solidFill>
                <a:latin typeface="Calibri" pitchFamily="34" charset="0"/>
                <a:ea typeface="Calibri" pitchFamily="34" charset="-122"/>
                <a:cs typeface="Calibri" pitchFamily="34" charset="-120"/>
              </a:rPr>
              <a:t>Fix: </a:t>
            </a:r>
            <a:pPr indent="0" marL="0">
              <a:spcAft>
                <a:spcPts val="600"/>
              </a:spcAft>
              <a:buNone/>
            </a:pPr>
            <a:r>
              <a:rPr lang="en-US" sz="1450" dirty="0">
                <a:solidFill>
                  <a:srgbClr val="1F2328"/>
                </a:solidFill>
                <a:latin typeface="Calibri" pitchFamily="34" charset="0"/>
                <a:ea typeface="Calibri" pitchFamily="34" charset="-122"/>
                <a:cs typeface="Calibri" pitchFamily="34" charset="-120"/>
              </a:rPr>
              <a:t>wait for all rollouts, retry for 2 min.</a:t>
            </a:r>
            <a:endParaRPr lang="en-US" sz="1450" dirty="0"/>
          </a:p>
        </p:txBody>
      </p:sp>
      <p:sp>
        <p:nvSpPr>
          <p:cNvPr id="14" name="Shape 12"/>
          <p:cNvSpPr/>
          <p:nvPr/>
        </p:nvSpPr>
        <p:spPr>
          <a:xfrm>
            <a:off x="8046720" y="1371600"/>
            <a:ext cx="3611880" cy="2240280"/>
          </a:xfrm>
          <a:prstGeom prst="rect">
            <a:avLst/>
          </a:prstGeom>
          <a:solidFill>
            <a:srgbClr val="F6F8FA"/>
          </a:solidFill>
          <a:ln w="9525">
            <a:solidFill>
              <a:srgbClr val="D0D7DE"/>
            </a:solidFill>
            <a:prstDash val="solid"/>
          </a:ln>
        </p:spPr>
      </p:sp>
      <p:sp>
        <p:nvSpPr>
          <p:cNvPr id="15" name="Shape 13"/>
          <p:cNvSpPr/>
          <p:nvPr/>
        </p:nvSpPr>
        <p:spPr>
          <a:xfrm>
            <a:off x="8247888" y="1600200"/>
            <a:ext cx="420624" cy="420624"/>
          </a:xfrm>
          <a:prstGeom prst="ellipse">
            <a:avLst/>
          </a:prstGeom>
          <a:solidFill>
            <a:srgbClr val="BF8700"/>
          </a:solidFill>
          <a:ln w="12700">
            <a:solidFill>
              <a:srgbClr val="BF8700"/>
            </a:solidFill>
            <a:prstDash val="solid"/>
          </a:ln>
        </p:spPr>
      </p:sp>
      <p:sp>
        <p:nvSpPr>
          <p:cNvPr id="16" name="Text 14"/>
          <p:cNvSpPr txBox="1"/>
          <p:nvPr/>
        </p:nvSpPr>
        <p:spPr>
          <a:xfrm>
            <a:off x="8247888"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8823960" y="1554480"/>
            <a:ext cx="2651760" cy="512064"/>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No ARM64 Java runtime image</a:t>
            </a:r>
            <a:endParaRPr lang="en-US" sz="1600" dirty="0"/>
          </a:p>
        </p:txBody>
      </p:sp>
      <p:sp>
        <p:nvSpPr>
          <p:cNvPr id="18" name="Text 16"/>
          <p:cNvSpPr txBox="1"/>
          <p:nvPr/>
        </p:nvSpPr>
        <p:spPr>
          <a:xfrm>
            <a:off x="8247888" y="2240280"/>
            <a:ext cx="3209544" cy="1188720"/>
          </a:xfrm>
          <a:prstGeom prst="rect">
            <a:avLst/>
          </a:prstGeom>
          <a:noFill/>
          <a:ln/>
        </p:spPr>
        <p:txBody>
          <a:bodyPr wrap="square" lIns="0" tIns="0" rIns="0" bIns="0" rtlCol="0" anchor="t"/>
          <a:lstStyle/>
          <a:p>
            <a:pPr indent="0" marL="0">
              <a:spcAft>
                <a:spcPts val="600"/>
              </a:spcAft>
              <a:buNone/>
            </a:pPr>
            <a:r>
              <a:rPr lang="en-US" sz="1450" dirty="0">
                <a:solidFill>
                  <a:srgbClr val="57606A"/>
                </a:solidFill>
                <a:latin typeface="Calibri" pitchFamily="34" charset="0"/>
                <a:ea typeface="Calibri" pitchFamily="34" charset="-122"/>
                <a:cs typeface="Calibri" pitchFamily="34" charset="-120"/>
              </a:rPr>
              <a:t>Alpine JRE is x86-only.</a:t>
            </a:r>
            <a:endParaRPr lang="en-US" sz="1450" dirty="0"/>
          </a:p>
          <a:p>
            <a:pPr indent="0" marL="0">
              <a:spcAft>
                <a:spcPts val="600"/>
              </a:spcAft>
              <a:buNone/>
            </a:pPr>
            <a:r>
              <a:rPr lang="en-US" sz="1450" b="1" dirty="0">
                <a:solidFill>
                  <a:srgbClr val="2DA44E"/>
                </a:solidFill>
                <a:latin typeface="Calibri" pitchFamily="34" charset="0"/>
                <a:ea typeface="Calibri" pitchFamily="34" charset="-122"/>
                <a:cs typeface="Calibri" pitchFamily="34" charset="-120"/>
              </a:rPr>
              <a:t>Fix: </a:t>
            </a:r>
            <a:pPr indent="0" marL="0">
              <a:spcAft>
                <a:spcPts val="600"/>
              </a:spcAft>
              <a:buNone/>
            </a:pPr>
            <a:r>
              <a:rPr lang="en-US" sz="1450" dirty="0">
                <a:solidFill>
                  <a:srgbClr val="1F2328"/>
                </a:solidFill>
                <a:latin typeface="Calibri" pitchFamily="34" charset="0"/>
                <a:ea typeface="Calibri" pitchFamily="34" charset="-122"/>
                <a:cs typeface="Calibri" pitchFamily="34" charset="-120"/>
              </a:rPr>
              <a:t>multi-arch eclipse-temurin:17-jre.</a:t>
            </a:r>
            <a:endParaRPr lang="en-US" sz="1450" dirty="0"/>
          </a:p>
        </p:txBody>
      </p:sp>
      <p:sp>
        <p:nvSpPr>
          <p:cNvPr id="19" name="Shape 17"/>
          <p:cNvSpPr/>
          <p:nvPr/>
        </p:nvSpPr>
        <p:spPr>
          <a:xfrm>
            <a:off x="548640" y="3840480"/>
            <a:ext cx="3611880" cy="2240280"/>
          </a:xfrm>
          <a:prstGeom prst="rect">
            <a:avLst/>
          </a:prstGeom>
          <a:solidFill>
            <a:srgbClr val="F6F8FA"/>
          </a:solidFill>
          <a:ln w="9525">
            <a:solidFill>
              <a:srgbClr val="D0D7DE"/>
            </a:solidFill>
            <a:prstDash val="solid"/>
          </a:ln>
        </p:spPr>
      </p:sp>
      <p:sp>
        <p:nvSpPr>
          <p:cNvPr id="20" name="Shape 18"/>
          <p:cNvSpPr/>
          <p:nvPr/>
        </p:nvSpPr>
        <p:spPr>
          <a:xfrm>
            <a:off x="749808" y="4069080"/>
            <a:ext cx="420624" cy="420624"/>
          </a:xfrm>
          <a:prstGeom prst="ellipse">
            <a:avLst/>
          </a:prstGeom>
          <a:solidFill>
            <a:srgbClr val="BF8700"/>
          </a:solidFill>
          <a:ln w="12700">
            <a:solidFill>
              <a:srgbClr val="BF8700"/>
            </a:solidFill>
            <a:prstDash val="solid"/>
          </a:ln>
        </p:spPr>
      </p:sp>
      <p:sp>
        <p:nvSpPr>
          <p:cNvPr id="21" name="Text 19"/>
          <p:cNvSpPr txBox="1"/>
          <p:nvPr/>
        </p:nvSpPr>
        <p:spPr>
          <a:xfrm>
            <a:off x="749808" y="40690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1325880" y="4023360"/>
            <a:ext cx="2651760" cy="512064"/>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Frontend tied to host disk</a:t>
            </a:r>
            <a:endParaRPr lang="en-US" sz="1600" dirty="0"/>
          </a:p>
        </p:txBody>
      </p:sp>
      <p:sp>
        <p:nvSpPr>
          <p:cNvPr id="23" name="Text 21"/>
          <p:cNvSpPr txBox="1"/>
          <p:nvPr/>
        </p:nvSpPr>
        <p:spPr>
          <a:xfrm>
            <a:off x="749808" y="4709160"/>
            <a:ext cx="3209544" cy="1188720"/>
          </a:xfrm>
          <a:prstGeom prst="rect">
            <a:avLst/>
          </a:prstGeom>
          <a:noFill/>
          <a:ln/>
        </p:spPr>
        <p:txBody>
          <a:bodyPr wrap="square" lIns="0" tIns="0" rIns="0" bIns="0" rtlCol="0" anchor="t"/>
          <a:lstStyle/>
          <a:p>
            <a:pPr indent="0" marL="0">
              <a:spcAft>
                <a:spcPts val="600"/>
              </a:spcAft>
              <a:buNone/>
            </a:pPr>
            <a:r>
              <a:rPr lang="en-US" sz="1450" dirty="0">
                <a:solidFill>
                  <a:srgbClr val="57606A"/>
                </a:solidFill>
                <a:latin typeface="Calibri" pitchFamily="34" charset="0"/>
                <a:ea typeface="Calibri" pitchFamily="34" charset="-122"/>
                <a:cs typeface="Calibri" pitchFamily="34" charset="-120"/>
              </a:rPr>
              <a:t>Compose mounted dist/ from the laptop.</a:t>
            </a:r>
            <a:endParaRPr lang="en-US" sz="1450" dirty="0"/>
          </a:p>
          <a:p>
            <a:pPr indent="0" marL="0">
              <a:spcAft>
                <a:spcPts val="600"/>
              </a:spcAft>
              <a:buNone/>
            </a:pPr>
            <a:r>
              <a:rPr lang="en-US" sz="1450" b="1" dirty="0">
                <a:solidFill>
                  <a:srgbClr val="2DA44E"/>
                </a:solidFill>
                <a:latin typeface="Calibri" pitchFamily="34" charset="0"/>
                <a:ea typeface="Calibri" pitchFamily="34" charset="-122"/>
                <a:cs typeface="Calibri" pitchFamily="34" charset="-120"/>
              </a:rPr>
              <a:t>Fix: </a:t>
            </a:r>
            <a:pPr indent="0" marL="0">
              <a:spcAft>
                <a:spcPts val="600"/>
              </a:spcAft>
              <a:buNone/>
            </a:pPr>
            <a:r>
              <a:rPr lang="en-US" sz="1450" dirty="0">
                <a:solidFill>
                  <a:srgbClr val="1F2328"/>
                </a:solidFill>
                <a:latin typeface="Calibri" pitchFamily="34" charset="0"/>
                <a:ea typeface="Calibri" pitchFamily="34" charset="-122"/>
                <a:cs typeface="Calibri" pitchFamily="34" charset="-120"/>
              </a:rPr>
              <a:t>React build baked into an Nginx image.</a:t>
            </a:r>
            <a:endParaRPr lang="en-US" sz="1450" dirty="0"/>
          </a:p>
        </p:txBody>
      </p:sp>
      <p:sp>
        <p:nvSpPr>
          <p:cNvPr id="24" name="Shape 22"/>
          <p:cNvSpPr/>
          <p:nvPr/>
        </p:nvSpPr>
        <p:spPr>
          <a:xfrm>
            <a:off x="4297680" y="3840480"/>
            <a:ext cx="3611880" cy="2240280"/>
          </a:xfrm>
          <a:prstGeom prst="rect">
            <a:avLst/>
          </a:prstGeom>
          <a:solidFill>
            <a:srgbClr val="F6F8FA"/>
          </a:solidFill>
          <a:ln w="9525">
            <a:solidFill>
              <a:srgbClr val="D0D7DE"/>
            </a:solidFill>
            <a:prstDash val="solid"/>
          </a:ln>
        </p:spPr>
      </p:sp>
      <p:sp>
        <p:nvSpPr>
          <p:cNvPr id="25" name="Shape 23"/>
          <p:cNvSpPr/>
          <p:nvPr/>
        </p:nvSpPr>
        <p:spPr>
          <a:xfrm>
            <a:off x="4498848" y="4069080"/>
            <a:ext cx="420624" cy="420624"/>
          </a:xfrm>
          <a:prstGeom prst="ellipse">
            <a:avLst/>
          </a:prstGeom>
          <a:solidFill>
            <a:srgbClr val="BF8700"/>
          </a:solidFill>
          <a:ln w="12700">
            <a:solidFill>
              <a:srgbClr val="BF8700"/>
            </a:solidFill>
            <a:prstDash val="solid"/>
          </a:ln>
        </p:spPr>
      </p:sp>
      <p:sp>
        <p:nvSpPr>
          <p:cNvPr id="26" name="Text 24"/>
          <p:cNvSpPr txBox="1"/>
          <p:nvPr/>
        </p:nvSpPr>
        <p:spPr>
          <a:xfrm>
            <a:off x="4498848" y="40690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7" name="Text 25"/>
          <p:cNvSpPr txBox="1"/>
          <p:nvPr/>
        </p:nvSpPr>
        <p:spPr>
          <a:xfrm>
            <a:off x="5074920" y="4023360"/>
            <a:ext cx="2651760" cy="512064"/>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WSL hang, then 0-byte files</a:t>
            </a:r>
            <a:endParaRPr lang="en-US" sz="1600" dirty="0"/>
          </a:p>
        </p:txBody>
      </p:sp>
      <p:sp>
        <p:nvSpPr>
          <p:cNvPr id="28" name="Text 26"/>
          <p:cNvSpPr txBox="1"/>
          <p:nvPr/>
        </p:nvSpPr>
        <p:spPr>
          <a:xfrm>
            <a:off x="4498848" y="4709160"/>
            <a:ext cx="3209544" cy="1188720"/>
          </a:xfrm>
          <a:prstGeom prst="rect">
            <a:avLst/>
          </a:prstGeom>
          <a:noFill/>
          <a:ln/>
        </p:spPr>
        <p:txBody>
          <a:bodyPr wrap="square" lIns="0" tIns="0" rIns="0" bIns="0" rtlCol="0" anchor="t"/>
          <a:lstStyle/>
          <a:p>
            <a:pPr indent="0" marL="0">
              <a:spcAft>
                <a:spcPts val="600"/>
              </a:spcAft>
              <a:buNone/>
            </a:pPr>
            <a:r>
              <a:rPr lang="en-US" sz="1450" dirty="0">
                <a:solidFill>
                  <a:srgbClr val="57606A"/>
                </a:solidFill>
                <a:latin typeface="Calibri" pitchFamily="34" charset="0"/>
                <a:ea typeface="Calibri" pitchFamily="34" charset="-122"/>
                <a:cs typeface="Calibri" pitchFamily="34" charset="-120"/>
              </a:rPr>
              <a:t>Stuck VM froze Ansible; forced stop lost writes.</a:t>
            </a:r>
            <a:endParaRPr lang="en-US" sz="1450" dirty="0"/>
          </a:p>
          <a:p>
            <a:pPr indent="0" marL="0">
              <a:spcAft>
                <a:spcPts val="600"/>
              </a:spcAft>
              <a:buNone/>
            </a:pPr>
            <a:r>
              <a:rPr lang="en-US" sz="1450" b="1" dirty="0">
                <a:solidFill>
                  <a:srgbClr val="2DA44E"/>
                </a:solidFill>
                <a:latin typeface="Calibri" pitchFamily="34" charset="0"/>
                <a:ea typeface="Calibri" pitchFamily="34" charset="-122"/>
                <a:cs typeface="Calibri" pitchFamily="34" charset="-120"/>
              </a:rPr>
              <a:t>Fix: </a:t>
            </a:r>
            <a:pPr indent="0" marL="0">
              <a:spcAft>
                <a:spcPts val="600"/>
              </a:spcAft>
              <a:buNone/>
            </a:pPr>
            <a:r>
              <a:rPr lang="en-US" sz="1450" dirty="0">
                <a:solidFill>
                  <a:srgbClr val="1F2328"/>
                </a:solidFill>
                <a:latin typeface="Calibri" pitchFamily="34" charset="0"/>
                <a:ea typeface="Calibri" pitchFamily="34" charset="-122"/>
                <a:cs typeface="Calibri" pitchFamily="34" charset="-120"/>
              </a:rPr>
              <a:t>restart, re-clone, sync.</a:t>
            </a:r>
            <a:endParaRPr lang="en-US" sz="1450" dirty="0"/>
          </a:p>
        </p:txBody>
      </p:sp>
      <p:sp>
        <p:nvSpPr>
          <p:cNvPr id="29" name="Shape 27"/>
          <p:cNvSpPr/>
          <p:nvPr/>
        </p:nvSpPr>
        <p:spPr>
          <a:xfrm>
            <a:off x="8046720" y="3840480"/>
            <a:ext cx="3611880" cy="2240280"/>
          </a:xfrm>
          <a:prstGeom prst="rect">
            <a:avLst/>
          </a:prstGeom>
          <a:solidFill>
            <a:srgbClr val="F6F8FA"/>
          </a:solidFill>
          <a:ln w="9525">
            <a:solidFill>
              <a:srgbClr val="D0D7DE"/>
            </a:solidFill>
            <a:prstDash val="solid"/>
          </a:ln>
        </p:spPr>
      </p:sp>
      <p:sp>
        <p:nvSpPr>
          <p:cNvPr id="30" name="Shape 28"/>
          <p:cNvSpPr/>
          <p:nvPr/>
        </p:nvSpPr>
        <p:spPr>
          <a:xfrm>
            <a:off x="8247888" y="4069080"/>
            <a:ext cx="420624" cy="420624"/>
          </a:xfrm>
          <a:prstGeom prst="ellipse">
            <a:avLst/>
          </a:prstGeom>
          <a:solidFill>
            <a:srgbClr val="BF8700"/>
          </a:solidFill>
          <a:ln w="12700">
            <a:solidFill>
              <a:srgbClr val="BF8700"/>
            </a:solidFill>
            <a:prstDash val="solid"/>
          </a:ln>
        </p:spPr>
      </p:sp>
      <p:sp>
        <p:nvSpPr>
          <p:cNvPr id="31" name="Text 29"/>
          <p:cNvSpPr txBox="1"/>
          <p:nvPr/>
        </p:nvSpPr>
        <p:spPr>
          <a:xfrm>
            <a:off x="8247888" y="40690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2" name="Text 30"/>
          <p:cNvSpPr txBox="1"/>
          <p:nvPr/>
        </p:nvSpPr>
        <p:spPr>
          <a:xfrm>
            <a:off x="8823960" y="4023360"/>
            <a:ext cx="2651760" cy="512064"/>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Ansible become_user failed</a:t>
            </a:r>
            <a:endParaRPr lang="en-US" sz="1600" dirty="0"/>
          </a:p>
        </p:txBody>
      </p:sp>
      <p:sp>
        <p:nvSpPr>
          <p:cNvPr id="33" name="Text 31"/>
          <p:cNvSpPr txBox="1"/>
          <p:nvPr/>
        </p:nvSpPr>
        <p:spPr>
          <a:xfrm>
            <a:off x="8247888" y="4709160"/>
            <a:ext cx="3209544" cy="1188720"/>
          </a:xfrm>
          <a:prstGeom prst="rect">
            <a:avLst/>
          </a:prstGeom>
          <a:noFill/>
          <a:ln/>
        </p:spPr>
        <p:txBody>
          <a:bodyPr wrap="square" lIns="0" tIns="0" rIns="0" bIns="0" rtlCol="0" anchor="t"/>
          <a:lstStyle/>
          <a:p>
            <a:pPr indent="0" marL="0">
              <a:spcAft>
                <a:spcPts val="600"/>
              </a:spcAft>
              <a:buNone/>
            </a:pPr>
            <a:r>
              <a:rPr lang="en-US" sz="1450" dirty="0">
                <a:solidFill>
                  <a:srgbClr val="57606A"/>
                </a:solidFill>
                <a:latin typeface="Calibri" pitchFamily="34" charset="0"/>
                <a:ea typeface="Calibri" pitchFamily="34" charset="-122"/>
                <a:cs typeface="Calibri" pitchFamily="34" charset="-120"/>
              </a:rPr>
              <a:t>chmod 'A+user:ctd' error.</a:t>
            </a:r>
            <a:endParaRPr lang="en-US" sz="1450" dirty="0"/>
          </a:p>
          <a:p>
            <a:pPr indent="0" marL="0">
              <a:spcAft>
                <a:spcPts val="600"/>
              </a:spcAft>
              <a:buNone/>
            </a:pPr>
            <a:r>
              <a:rPr lang="en-US" sz="1450" b="1" dirty="0">
                <a:solidFill>
                  <a:srgbClr val="2DA44E"/>
                </a:solidFill>
                <a:latin typeface="Calibri" pitchFamily="34" charset="0"/>
                <a:ea typeface="Calibri" pitchFamily="34" charset="-122"/>
                <a:cs typeface="Calibri" pitchFamily="34" charset="-120"/>
              </a:rPr>
              <a:t>Fix: </a:t>
            </a:r>
            <a:pPr indent="0" marL="0">
              <a:spcAft>
                <a:spcPts val="600"/>
              </a:spcAft>
              <a:buNone/>
            </a:pPr>
            <a:r>
              <a:rPr lang="en-US" sz="1450" dirty="0">
                <a:solidFill>
                  <a:srgbClr val="1F2328"/>
                </a:solidFill>
                <a:latin typeface="Calibri" pitchFamily="34" charset="0"/>
                <a:ea typeface="Calibri" pitchFamily="34" charset="-122"/>
                <a:cs typeface="Calibri" pitchFamily="34" charset="-120"/>
              </a:rPr>
              <a:t>add the acl package (setfacl) to the playbook.</a:t>
            </a:r>
            <a:endParaRPr lang="en-US" sz="1450" dirty="0"/>
          </a:p>
        </p:txBody>
      </p:sp>
      <p:sp>
        <p:nvSpPr>
          <p:cNvPr id="34" name="Text 32"/>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rgbClr val="2DA44E"/>
                </a:solidFill>
                <a:latin typeface="Calibri" pitchFamily="34" charset="0"/>
                <a:ea typeface="Calibri" pitchFamily="34" charset="-122"/>
                <a:cs typeface="Calibri" pitchFamily="34" charset="-120"/>
              </a:rPr>
              <a:t>TASK 5 · LESSONS LEARNED</a:t>
            </a:r>
            <a:endParaRPr lang="en-US" sz="1200" dirty="0"/>
          </a:p>
        </p:txBody>
      </p:sp>
      <p:sp>
        <p:nvSpPr>
          <p:cNvPr id="3" name="Text 1"/>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this project taught</a:t>
            </a:r>
            <a:endParaRPr lang="en-US" sz="3000" dirty="0"/>
          </a:p>
        </p:txBody>
      </p:sp>
      <p:sp>
        <p:nvSpPr>
          <p:cNvPr id="4" name="Shape 2"/>
          <p:cNvSpPr/>
          <p:nvPr/>
        </p:nvSpPr>
        <p:spPr>
          <a:xfrm>
            <a:off x="548640" y="1426464"/>
            <a:ext cx="384048" cy="384048"/>
          </a:xfrm>
          <a:prstGeom prst="ellipse">
            <a:avLst/>
          </a:prstGeom>
          <a:solidFill>
            <a:srgbClr val="2DA44E"/>
          </a:solidFill>
          <a:ln w="12700">
            <a:solidFill>
              <a:srgbClr val="2DA44E"/>
            </a:solidFill>
            <a:prstDash val="solid"/>
          </a:ln>
        </p:spPr>
      </p:sp>
      <p:sp>
        <p:nvSpPr>
          <p:cNvPr id="5" name="Text 3"/>
          <p:cNvSpPr txBox="1"/>
          <p:nvPr/>
        </p:nvSpPr>
        <p:spPr>
          <a:xfrm>
            <a:off x="548640" y="1426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078992" y="1417320"/>
            <a:ext cx="4864608"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Build once, deploy everywhere</a:t>
            </a:r>
            <a:endParaRPr lang="en-US" sz="1700" dirty="0"/>
          </a:p>
        </p:txBody>
      </p:sp>
      <p:sp>
        <p:nvSpPr>
          <p:cNvPr id="7" name="Text 5"/>
          <p:cNvSpPr txBox="1"/>
          <p:nvPr/>
        </p:nvSpPr>
        <p:spPr>
          <a:xfrm>
            <a:off x="1078992" y="1755648"/>
            <a:ext cx="4864608" cy="822960"/>
          </a:xfrm>
          <a:prstGeom prst="rect">
            <a:avLst/>
          </a:prstGeom>
          <a:noFill/>
          <a:ln/>
        </p:spPr>
        <p:txBody>
          <a:bodyPr wrap="square" lIns="0" tIns="0" rIns="0" bIns="0" rtlCol="0" anchor="t"/>
          <a:lstStyle/>
          <a:p>
            <a:pPr indent="0" marL="0">
              <a:buNone/>
            </a:pPr>
            <a:r>
              <a:rPr lang="en-US" sz="1350" dirty="0">
                <a:solidFill>
                  <a:srgbClr val="C9D1D9"/>
                </a:solidFill>
                <a:latin typeface="Calibri" pitchFamily="34" charset="0"/>
                <a:ea typeface="Calibri" pitchFamily="34" charset="-122"/>
                <a:cs typeface="Calibri" pitchFamily="34" charset="-120"/>
              </a:rPr>
              <a:t>The SHA-tagged image CI tests is the one Kubernetes runs and rolls back to.</a:t>
            </a:r>
            <a:endParaRPr lang="en-US" sz="1350" dirty="0"/>
          </a:p>
        </p:txBody>
      </p:sp>
      <p:sp>
        <p:nvSpPr>
          <p:cNvPr id="8" name="Shape 6"/>
          <p:cNvSpPr/>
          <p:nvPr/>
        </p:nvSpPr>
        <p:spPr>
          <a:xfrm>
            <a:off x="6263640" y="1426464"/>
            <a:ext cx="384048" cy="384048"/>
          </a:xfrm>
          <a:prstGeom prst="ellipse">
            <a:avLst/>
          </a:prstGeom>
          <a:solidFill>
            <a:srgbClr val="2DA44E"/>
          </a:solidFill>
          <a:ln w="12700">
            <a:solidFill>
              <a:srgbClr val="2DA44E"/>
            </a:solidFill>
            <a:prstDash val="solid"/>
          </a:ln>
        </p:spPr>
      </p:sp>
      <p:sp>
        <p:nvSpPr>
          <p:cNvPr id="9" name="Text 7"/>
          <p:cNvSpPr txBox="1"/>
          <p:nvPr/>
        </p:nvSpPr>
        <p:spPr>
          <a:xfrm>
            <a:off x="6263640" y="1426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6793992" y="1417320"/>
            <a:ext cx="4864608"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Safe rollouts are configuration</a:t>
            </a:r>
            <a:endParaRPr lang="en-US" sz="1700" dirty="0"/>
          </a:p>
        </p:txBody>
      </p:sp>
      <p:sp>
        <p:nvSpPr>
          <p:cNvPr id="11" name="Text 9"/>
          <p:cNvSpPr txBox="1"/>
          <p:nvPr/>
        </p:nvSpPr>
        <p:spPr>
          <a:xfrm>
            <a:off x="6793992" y="1755648"/>
            <a:ext cx="4864608" cy="822960"/>
          </a:xfrm>
          <a:prstGeom prst="rect">
            <a:avLst/>
          </a:prstGeom>
          <a:noFill/>
          <a:ln/>
        </p:spPr>
        <p:txBody>
          <a:bodyPr wrap="square" lIns="0" tIns="0" rIns="0" bIns="0" rtlCol="0" anchor="t"/>
          <a:lstStyle/>
          <a:p>
            <a:pPr indent="0" marL="0">
              <a:buNone/>
            </a:pPr>
            <a:r>
              <a:rPr lang="en-US" sz="1350" dirty="0">
                <a:solidFill>
                  <a:srgbClr val="C9D1D9"/>
                </a:solidFill>
                <a:latin typeface="Calibri" pitchFamily="34" charset="0"/>
                <a:ea typeface="Calibri" pitchFamily="34" charset="-122"/>
                <a:cs typeface="Calibri" pitchFamily="34" charset="-120"/>
              </a:rPr>
              <a:t>maxUnavailable 0 + readiness probes: a bad release stalls instead of causing an outage.</a:t>
            </a:r>
            <a:endParaRPr lang="en-US" sz="1350" dirty="0"/>
          </a:p>
        </p:txBody>
      </p:sp>
      <p:sp>
        <p:nvSpPr>
          <p:cNvPr id="12" name="Shape 10"/>
          <p:cNvSpPr/>
          <p:nvPr/>
        </p:nvSpPr>
        <p:spPr>
          <a:xfrm>
            <a:off x="548640" y="2843784"/>
            <a:ext cx="384048" cy="384048"/>
          </a:xfrm>
          <a:prstGeom prst="ellipse">
            <a:avLst/>
          </a:prstGeom>
          <a:solidFill>
            <a:srgbClr val="2DA44E"/>
          </a:solidFill>
          <a:ln w="12700">
            <a:solidFill>
              <a:srgbClr val="2DA44E"/>
            </a:solidFill>
            <a:prstDash val="solid"/>
          </a:ln>
        </p:spPr>
      </p:sp>
      <p:sp>
        <p:nvSpPr>
          <p:cNvPr id="13" name="Text 11"/>
          <p:cNvSpPr txBox="1"/>
          <p:nvPr/>
        </p:nvSpPr>
        <p:spPr>
          <a:xfrm>
            <a:off x="548640" y="2843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1078992" y="2834640"/>
            <a:ext cx="4864608"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Ready ≠ dependencies ready</a:t>
            </a:r>
            <a:endParaRPr lang="en-US" sz="1700" dirty="0"/>
          </a:p>
        </p:txBody>
      </p:sp>
      <p:sp>
        <p:nvSpPr>
          <p:cNvPr id="15" name="Text 13"/>
          <p:cNvSpPr txBox="1"/>
          <p:nvPr/>
        </p:nvSpPr>
        <p:spPr>
          <a:xfrm>
            <a:off x="1078992" y="3172968"/>
            <a:ext cx="4864608" cy="822960"/>
          </a:xfrm>
          <a:prstGeom prst="rect">
            <a:avLst/>
          </a:prstGeom>
          <a:noFill/>
          <a:ln/>
        </p:spPr>
        <p:txBody>
          <a:bodyPr wrap="square" lIns="0" tIns="0" rIns="0" bIns="0" rtlCol="0" anchor="t"/>
          <a:lstStyle/>
          <a:p>
            <a:pPr indent="0" marL="0">
              <a:buNone/>
            </a:pPr>
            <a:r>
              <a:rPr lang="en-US" sz="1350" dirty="0">
                <a:solidFill>
                  <a:srgbClr val="C9D1D9"/>
                </a:solidFill>
                <a:latin typeface="Calibri" pitchFamily="34" charset="0"/>
                <a:ea typeface="Calibri" pitchFamily="34" charset="-122"/>
                <a:cs typeface="Calibri" pitchFamily="34" charset="-120"/>
              </a:rPr>
              <a:t>Wait for every service and retry health checks instead of checking once.</a:t>
            </a:r>
            <a:endParaRPr lang="en-US" sz="1350" dirty="0"/>
          </a:p>
        </p:txBody>
      </p:sp>
      <p:sp>
        <p:nvSpPr>
          <p:cNvPr id="16" name="Shape 14"/>
          <p:cNvSpPr/>
          <p:nvPr/>
        </p:nvSpPr>
        <p:spPr>
          <a:xfrm>
            <a:off x="6263640" y="2843784"/>
            <a:ext cx="384048" cy="384048"/>
          </a:xfrm>
          <a:prstGeom prst="ellipse">
            <a:avLst/>
          </a:prstGeom>
          <a:solidFill>
            <a:srgbClr val="2DA44E"/>
          </a:solidFill>
          <a:ln w="12700">
            <a:solidFill>
              <a:srgbClr val="2DA44E"/>
            </a:solidFill>
            <a:prstDash val="solid"/>
          </a:ln>
        </p:spPr>
      </p:sp>
      <p:sp>
        <p:nvSpPr>
          <p:cNvPr id="17" name="Text 15"/>
          <p:cNvSpPr txBox="1"/>
          <p:nvPr/>
        </p:nvSpPr>
        <p:spPr>
          <a:xfrm>
            <a:off x="6263640" y="2843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6793992" y="2834640"/>
            <a:ext cx="4864608"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Idempotency is proof</a:t>
            </a:r>
            <a:endParaRPr lang="en-US" sz="1700" dirty="0"/>
          </a:p>
        </p:txBody>
      </p:sp>
      <p:sp>
        <p:nvSpPr>
          <p:cNvPr id="19" name="Text 17"/>
          <p:cNvSpPr txBox="1"/>
          <p:nvPr/>
        </p:nvSpPr>
        <p:spPr>
          <a:xfrm>
            <a:off x="6793992" y="3172968"/>
            <a:ext cx="4864608" cy="822960"/>
          </a:xfrm>
          <a:prstGeom prst="rect">
            <a:avLst/>
          </a:prstGeom>
          <a:noFill/>
          <a:ln/>
        </p:spPr>
        <p:txBody>
          <a:bodyPr wrap="square" lIns="0" tIns="0" rIns="0" bIns="0" rtlCol="0" anchor="t"/>
          <a:lstStyle/>
          <a:p>
            <a:pPr indent="0" marL="0">
              <a:buNone/>
            </a:pPr>
            <a:r>
              <a:rPr lang="en-US" sz="1350" dirty="0">
                <a:solidFill>
                  <a:srgbClr val="C9D1D9"/>
                </a:solidFill>
                <a:latin typeface="Calibri" pitchFamily="34" charset="0"/>
                <a:ea typeface="Calibri" pitchFamily="34" charset="-122"/>
                <a:cs typeface="Calibri" pitchFamily="34" charset="-120"/>
              </a:rPr>
              <a:t>changed=0 makes the playbook both documentation and drift correction.</a:t>
            </a:r>
            <a:endParaRPr lang="en-US" sz="1350" dirty="0"/>
          </a:p>
        </p:txBody>
      </p:sp>
      <p:sp>
        <p:nvSpPr>
          <p:cNvPr id="20" name="Shape 18"/>
          <p:cNvSpPr/>
          <p:nvPr/>
        </p:nvSpPr>
        <p:spPr>
          <a:xfrm>
            <a:off x="548640" y="4261104"/>
            <a:ext cx="384048" cy="384048"/>
          </a:xfrm>
          <a:prstGeom prst="ellipse">
            <a:avLst/>
          </a:prstGeom>
          <a:solidFill>
            <a:srgbClr val="2DA44E"/>
          </a:solidFill>
          <a:ln w="12700">
            <a:solidFill>
              <a:srgbClr val="2DA44E"/>
            </a:solidFill>
            <a:prstDash val="solid"/>
          </a:ln>
        </p:spPr>
      </p:sp>
      <p:sp>
        <p:nvSpPr>
          <p:cNvPr id="21" name="Text 19"/>
          <p:cNvSpPr txBox="1"/>
          <p:nvPr/>
        </p:nvSpPr>
        <p:spPr>
          <a:xfrm>
            <a:off x="548640"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1078992" y="4251960"/>
            <a:ext cx="4864608"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Measure the right thing</a:t>
            </a:r>
            <a:endParaRPr lang="en-US" sz="1700" dirty="0"/>
          </a:p>
        </p:txBody>
      </p:sp>
      <p:sp>
        <p:nvSpPr>
          <p:cNvPr id="23" name="Text 21"/>
          <p:cNvSpPr txBox="1"/>
          <p:nvPr/>
        </p:nvSpPr>
        <p:spPr>
          <a:xfrm>
            <a:off x="1078992" y="4590288"/>
            <a:ext cx="4864608" cy="822960"/>
          </a:xfrm>
          <a:prstGeom prst="rect">
            <a:avLst/>
          </a:prstGeom>
          <a:noFill/>
          <a:ln/>
        </p:spPr>
        <p:txBody>
          <a:bodyPr wrap="square" lIns="0" tIns="0" rIns="0" bIns="0" rtlCol="0" anchor="t"/>
          <a:lstStyle/>
          <a:p>
            <a:pPr indent="0" marL="0">
              <a:buNone/>
            </a:pPr>
            <a:r>
              <a:rPr lang="en-US" sz="1350" dirty="0">
                <a:solidFill>
                  <a:srgbClr val="C9D1D9"/>
                </a:solidFill>
                <a:latin typeface="Calibri" pitchFamily="34" charset="0"/>
                <a:ea typeface="Calibri" pitchFamily="34" charset="-122"/>
                <a:cs typeface="Calibri" pitchFamily="34" charset="-120"/>
              </a:rPr>
              <a:t>Percentiles, and 4xx split from 5xx; a dead dependency showed up as 30 s latency.</a:t>
            </a:r>
            <a:endParaRPr lang="en-US" sz="1350" dirty="0"/>
          </a:p>
        </p:txBody>
      </p:sp>
      <p:sp>
        <p:nvSpPr>
          <p:cNvPr id="24" name="Shape 22"/>
          <p:cNvSpPr/>
          <p:nvPr/>
        </p:nvSpPr>
        <p:spPr>
          <a:xfrm>
            <a:off x="6263640" y="4261104"/>
            <a:ext cx="384048" cy="384048"/>
          </a:xfrm>
          <a:prstGeom prst="ellipse">
            <a:avLst/>
          </a:prstGeom>
          <a:solidFill>
            <a:srgbClr val="2DA44E"/>
          </a:solidFill>
          <a:ln w="12700">
            <a:solidFill>
              <a:srgbClr val="2DA44E"/>
            </a:solidFill>
            <a:prstDash val="solid"/>
          </a:ln>
        </p:spPr>
      </p:sp>
      <p:sp>
        <p:nvSpPr>
          <p:cNvPr id="25" name="Text 23"/>
          <p:cNvSpPr txBox="1"/>
          <p:nvPr/>
        </p:nvSpPr>
        <p:spPr>
          <a:xfrm>
            <a:off x="6263640"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6" name="Text 24"/>
          <p:cNvSpPr txBox="1"/>
          <p:nvPr/>
        </p:nvSpPr>
        <p:spPr>
          <a:xfrm>
            <a:off x="6793992" y="4251960"/>
            <a:ext cx="4864608"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Standards over vendors</a:t>
            </a:r>
            <a:endParaRPr lang="en-US" sz="1700" dirty="0"/>
          </a:p>
        </p:txBody>
      </p:sp>
      <p:sp>
        <p:nvSpPr>
          <p:cNvPr id="27" name="Text 25"/>
          <p:cNvSpPr txBox="1"/>
          <p:nvPr/>
        </p:nvSpPr>
        <p:spPr>
          <a:xfrm>
            <a:off x="6793992" y="4590288"/>
            <a:ext cx="4864608" cy="822960"/>
          </a:xfrm>
          <a:prstGeom prst="rect">
            <a:avLst/>
          </a:prstGeom>
          <a:noFill/>
          <a:ln/>
        </p:spPr>
        <p:txBody>
          <a:bodyPr wrap="square" lIns="0" tIns="0" rIns="0" bIns="0" rtlCol="0" anchor="t"/>
          <a:lstStyle/>
          <a:p>
            <a:pPr indent="0" marL="0">
              <a:buNone/>
            </a:pPr>
            <a:r>
              <a:rPr lang="en-US" sz="1350" dirty="0">
                <a:solidFill>
                  <a:srgbClr val="C9D1D9"/>
                </a:solidFill>
                <a:latin typeface="Calibri" pitchFamily="34" charset="0"/>
                <a:ea typeface="Calibri" pitchFamily="34" charset="-122"/>
                <a:cs typeface="Calibri" pitchFamily="34" charset="-120"/>
              </a:rPr>
              <a:t>The S3 API made the MinIO swap trivial. Pin and mirror third-party images.</a:t>
            </a:r>
            <a:endParaRPr lang="en-US" sz="1350" dirty="0"/>
          </a:p>
        </p:txBody>
      </p:sp>
      <p:sp>
        <p:nvSpPr>
          <p:cNvPr id="28" name="Text 26"/>
          <p:cNvSpPr txBox="1"/>
          <p:nvPr/>
        </p:nvSpPr>
        <p:spPr>
          <a:xfrm>
            <a:off x="548640" y="5806440"/>
            <a:ext cx="11064240" cy="548640"/>
          </a:xfrm>
          <a:prstGeom prst="rect">
            <a:avLst/>
          </a:prstGeom>
          <a:noFill/>
          <a:ln/>
        </p:spPr>
        <p:txBody>
          <a:bodyPr wrap="square" lIns="0" tIns="0" rIns="0" bIns="0" rtlCol="0" anchor="ctr"/>
          <a:lstStyle/>
          <a:p>
            <a:pPr indent="0" marL="0">
              <a:buNone/>
            </a:pPr>
            <a:r>
              <a:rPr lang="en-US" sz="1300" i="1" dirty="0">
                <a:solidFill>
                  <a:srgbClr val="2DA44E"/>
                </a:solidFill>
                <a:latin typeface="Calibri" pitchFamily="34" charset="0"/>
                <a:ea typeface="Calibri" pitchFamily="34" charset="-122"/>
                <a:cs typeface="Calibri" pitchFamily="34" charset="-120"/>
              </a:rPr>
              <a:t>Link to the case studies: our Redis outage is the Netflix lesson (design for failure); the next step, security scans in CI, is the Capital One lesson (shift left).</a:t>
            </a:r>
            <a:endParaRPr lang="en-US" sz="1300" dirty="0"/>
          </a:p>
        </p:txBody>
      </p:sp>
      <p:sp>
        <p:nvSpPr>
          <p:cNvPr id="29" name="Text 27"/>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C9D1D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Connect-The-Dots — DevOps CA-II</dc:title>
  <dc:subject>PptxGenJS Presentation</dc:subject>
  <dc:creator>PptxGenJS</dc:creator>
  <cp:lastModifiedBy>PptxGenJS</cp:lastModifiedBy>
  <cp:revision>1</cp:revision>
  <dcterms:created xsi:type="dcterms:W3CDTF">2026-10-01T11:42:46Z</dcterms:created>
  <dcterms:modified xsi:type="dcterms:W3CDTF">2026-10-01T11:42:46Z</dcterms:modified>
</cp:coreProperties>
</file>